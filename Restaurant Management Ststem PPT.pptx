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8"/>
  </p:notesMasterIdLst>
  <p:sldIdLst>
    <p:sldId id="268" r:id="rId2"/>
    <p:sldId id="274" r:id="rId3"/>
    <p:sldId id="275" r:id="rId4"/>
    <p:sldId id="1750" r:id="rId5"/>
    <p:sldId id="1751" r:id="rId6"/>
    <p:sldId id="1752" r:id="rId7"/>
    <p:sldId id="1746" r:id="rId8"/>
    <p:sldId id="276" r:id="rId9"/>
    <p:sldId id="1754" r:id="rId10"/>
    <p:sldId id="1745" r:id="rId11"/>
    <p:sldId id="1744" r:id="rId12"/>
    <p:sldId id="1755" r:id="rId13"/>
    <p:sldId id="1756" r:id="rId14"/>
    <p:sldId id="1747" r:id="rId15"/>
    <p:sldId id="266" r:id="rId16"/>
    <p:sldId id="1757" r:id="rId17"/>
    <p:sldId id="1759" r:id="rId18"/>
    <p:sldId id="1758" r:id="rId19"/>
    <p:sldId id="1760" r:id="rId20"/>
    <p:sldId id="1769" r:id="rId21"/>
    <p:sldId id="1764" r:id="rId22"/>
    <p:sldId id="1768" r:id="rId23"/>
    <p:sldId id="1761" r:id="rId24"/>
    <p:sldId id="1766" r:id="rId25"/>
    <p:sldId id="1780" r:id="rId26"/>
    <p:sldId id="1771" r:id="rId27"/>
    <p:sldId id="1767" r:id="rId28"/>
    <p:sldId id="1778" r:id="rId29"/>
    <p:sldId id="1781" r:id="rId30"/>
    <p:sldId id="1782" r:id="rId31"/>
    <p:sldId id="1783" r:id="rId32"/>
    <p:sldId id="1784" r:id="rId33"/>
    <p:sldId id="1785" r:id="rId34"/>
    <p:sldId id="1786" r:id="rId35"/>
    <p:sldId id="1787" r:id="rId36"/>
    <p:sldId id="1788" r:id="rId37"/>
    <p:sldId id="1762" r:id="rId38"/>
    <p:sldId id="1777" r:id="rId39"/>
    <p:sldId id="1775" r:id="rId40"/>
    <p:sldId id="1779" r:id="rId41"/>
    <p:sldId id="1765" r:id="rId42"/>
    <p:sldId id="1770" r:id="rId43"/>
    <p:sldId id="1748" r:id="rId44"/>
    <p:sldId id="1776" r:id="rId45"/>
    <p:sldId id="279" r:id="rId46"/>
    <p:sldId id="174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37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CBA57-6FB4-4FE0-A19B-99250432D022}" v="12" dt="2026-10-01T05:23:20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629" y="96"/>
      </p:cViewPr>
      <p:guideLst>
        <p:guide orient="horz" pos="2104"/>
        <p:guide pos="37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a Kinthada" userId="1a4e6eb83f59d2b0" providerId="LiveId" clId="{53AB0B5C-4A2C-46A2-B148-FDAAD5EB12E2}"/>
    <pc:docChg chg="undo custSel addSld delSld modSld">
      <pc:chgData name="Akshaya Kinthada" userId="1a4e6eb83f59d2b0" providerId="LiveId" clId="{53AB0B5C-4A2C-46A2-B148-FDAAD5EB12E2}" dt="2026-10-01T05:23:41.447" v="18" actId="47"/>
      <pc:docMkLst>
        <pc:docMk/>
      </pc:docMkLst>
      <pc:sldChg chg="del">
        <pc:chgData name="Akshaya Kinthada" userId="1a4e6eb83f59d2b0" providerId="LiveId" clId="{53AB0B5C-4A2C-46A2-B148-FDAAD5EB12E2}" dt="2026-10-01T05:21:31.502" v="0" actId="47"/>
        <pc:sldMkLst>
          <pc:docMk/>
          <pc:sldMk cId="0" sldId="1766"/>
        </pc:sldMkLst>
      </pc:sldChg>
      <pc:sldChg chg="add">
        <pc:chgData name="Akshaya Kinthada" userId="1a4e6eb83f59d2b0" providerId="LiveId" clId="{53AB0B5C-4A2C-46A2-B148-FDAAD5EB12E2}" dt="2026-10-01T05:21:34.822" v="1"/>
        <pc:sldMkLst>
          <pc:docMk/>
          <pc:sldMk cId="1946020901" sldId="1766"/>
        </pc:sldMkLst>
      </pc:sldChg>
      <pc:sldChg chg="del">
        <pc:chgData name="Akshaya Kinthada" userId="1a4e6eb83f59d2b0" providerId="LiveId" clId="{53AB0B5C-4A2C-46A2-B148-FDAAD5EB12E2}" dt="2026-10-01T05:21:58.587" v="3" actId="47"/>
        <pc:sldMkLst>
          <pc:docMk/>
          <pc:sldMk cId="0" sldId="1767"/>
        </pc:sldMkLst>
      </pc:sldChg>
      <pc:sldChg chg="add">
        <pc:chgData name="Akshaya Kinthada" userId="1a4e6eb83f59d2b0" providerId="LiveId" clId="{53AB0B5C-4A2C-46A2-B148-FDAAD5EB12E2}" dt="2026-10-01T05:22:07.558" v="4"/>
        <pc:sldMkLst>
          <pc:docMk/>
          <pc:sldMk cId="1501373550" sldId="1767"/>
        </pc:sldMkLst>
      </pc:sldChg>
      <pc:sldChg chg="del">
        <pc:chgData name="Akshaya Kinthada" userId="1a4e6eb83f59d2b0" providerId="LiveId" clId="{53AB0B5C-4A2C-46A2-B148-FDAAD5EB12E2}" dt="2026-10-01T05:23:31.522" v="14" actId="47"/>
        <pc:sldMkLst>
          <pc:docMk/>
          <pc:sldMk cId="0" sldId="1772"/>
        </pc:sldMkLst>
      </pc:sldChg>
      <pc:sldChg chg="del">
        <pc:chgData name="Akshaya Kinthada" userId="1a4e6eb83f59d2b0" providerId="LiveId" clId="{53AB0B5C-4A2C-46A2-B148-FDAAD5EB12E2}" dt="2026-10-01T05:23:34.795" v="15" actId="47"/>
        <pc:sldMkLst>
          <pc:docMk/>
          <pc:sldMk cId="0" sldId="1773"/>
        </pc:sldMkLst>
      </pc:sldChg>
      <pc:sldChg chg="add del">
        <pc:chgData name="Akshaya Kinthada" userId="1a4e6eb83f59d2b0" providerId="LiveId" clId="{53AB0B5C-4A2C-46A2-B148-FDAAD5EB12E2}" dt="2026-10-01T05:23:41.447" v="18" actId="47"/>
        <pc:sldMkLst>
          <pc:docMk/>
          <pc:sldMk cId="0" sldId="1774"/>
        </pc:sldMkLst>
      </pc:sldChg>
      <pc:sldChg chg="add">
        <pc:chgData name="Akshaya Kinthada" userId="1a4e6eb83f59d2b0" providerId="LiveId" clId="{53AB0B5C-4A2C-46A2-B148-FDAAD5EB12E2}" dt="2026-10-01T05:22:15.292" v="5"/>
        <pc:sldMkLst>
          <pc:docMk/>
          <pc:sldMk cId="3003456837" sldId="1778"/>
        </pc:sldMkLst>
      </pc:sldChg>
      <pc:sldChg chg="add">
        <pc:chgData name="Akshaya Kinthada" userId="1a4e6eb83f59d2b0" providerId="LiveId" clId="{53AB0B5C-4A2C-46A2-B148-FDAAD5EB12E2}" dt="2026-10-01T05:21:54.134" v="2"/>
        <pc:sldMkLst>
          <pc:docMk/>
          <pc:sldMk cId="817310479" sldId="1780"/>
        </pc:sldMkLst>
      </pc:sldChg>
      <pc:sldChg chg="add">
        <pc:chgData name="Akshaya Kinthada" userId="1a4e6eb83f59d2b0" providerId="LiveId" clId="{53AB0B5C-4A2C-46A2-B148-FDAAD5EB12E2}" dt="2026-10-01T05:22:27.271" v="6"/>
        <pc:sldMkLst>
          <pc:docMk/>
          <pc:sldMk cId="639931304" sldId="1781"/>
        </pc:sldMkLst>
      </pc:sldChg>
      <pc:sldChg chg="add">
        <pc:chgData name="Akshaya Kinthada" userId="1a4e6eb83f59d2b0" providerId="LiveId" clId="{53AB0B5C-4A2C-46A2-B148-FDAAD5EB12E2}" dt="2026-10-01T05:22:34.690" v="7"/>
        <pc:sldMkLst>
          <pc:docMk/>
          <pc:sldMk cId="1518123213" sldId="1782"/>
        </pc:sldMkLst>
      </pc:sldChg>
      <pc:sldChg chg="add">
        <pc:chgData name="Akshaya Kinthada" userId="1a4e6eb83f59d2b0" providerId="LiveId" clId="{53AB0B5C-4A2C-46A2-B148-FDAAD5EB12E2}" dt="2026-10-01T05:22:42.262" v="8"/>
        <pc:sldMkLst>
          <pc:docMk/>
          <pc:sldMk cId="2687178678" sldId="1783"/>
        </pc:sldMkLst>
      </pc:sldChg>
      <pc:sldChg chg="add">
        <pc:chgData name="Akshaya Kinthada" userId="1a4e6eb83f59d2b0" providerId="LiveId" clId="{53AB0B5C-4A2C-46A2-B148-FDAAD5EB12E2}" dt="2026-10-01T05:22:48.936" v="9"/>
        <pc:sldMkLst>
          <pc:docMk/>
          <pc:sldMk cId="2227642683" sldId="1784"/>
        </pc:sldMkLst>
      </pc:sldChg>
      <pc:sldChg chg="add">
        <pc:chgData name="Akshaya Kinthada" userId="1a4e6eb83f59d2b0" providerId="LiveId" clId="{53AB0B5C-4A2C-46A2-B148-FDAAD5EB12E2}" dt="2026-10-01T05:22:57.845" v="10"/>
        <pc:sldMkLst>
          <pc:docMk/>
          <pc:sldMk cId="3584945002" sldId="1785"/>
        </pc:sldMkLst>
      </pc:sldChg>
      <pc:sldChg chg="add">
        <pc:chgData name="Akshaya Kinthada" userId="1a4e6eb83f59d2b0" providerId="LiveId" clId="{53AB0B5C-4A2C-46A2-B148-FDAAD5EB12E2}" dt="2026-10-01T05:23:05.512" v="11"/>
        <pc:sldMkLst>
          <pc:docMk/>
          <pc:sldMk cId="3960008704" sldId="1786"/>
        </pc:sldMkLst>
      </pc:sldChg>
      <pc:sldChg chg="add">
        <pc:chgData name="Akshaya Kinthada" userId="1a4e6eb83f59d2b0" providerId="LiveId" clId="{53AB0B5C-4A2C-46A2-B148-FDAAD5EB12E2}" dt="2026-10-01T05:23:12.603" v="12"/>
        <pc:sldMkLst>
          <pc:docMk/>
          <pc:sldMk cId="377306326" sldId="1787"/>
        </pc:sldMkLst>
      </pc:sldChg>
      <pc:sldChg chg="add">
        <pc:chgData name="Akshaya Kinthada" userId="1a4e6eb83f59d2b0" providerId="LiveId" clId="{53AB0B5C-4A2C-46A2-B148-FDAAD5EB12E2}" dt="2026-10-01T05:23:20.566" v="13"/>
        <pc:sldMkLst>
          <pc:docMk/>
          <pc:sldMk cId="3132966073" sldId="17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25116-00D9-4A77-BFEB-9388F8B9BA6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1F5B3-4BBF-41F2-8804-AFC586FF4C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3F9B-147A-056F-718E-73DAEF54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2C62B-5DEB-987E-FEE7-8BE06E074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4166E-4E8B-4C39-7DE0-6D84092F8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871AD-D90A-D2C5-6AF2-7F77EE132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7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969F-3A08-5EC0-A54E-925D1AE0F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E7F7E-E17C-89AB-D25C-9FE529F42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1D693-7BA9-2033-56E7-0D7BDDB3E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3A899-E95C-7C61-6D5E-4A37F3313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503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46BCA-9DDC-6CA9-E35F-F67384E2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299A2-6E66-CDAC-B34A-EAE76AB2A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E1809-F37E-860F-BDEF-447439B32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E58FE-2184-8E4D-2712-0723E79AF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876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8894-2E22-3452-C4F7-1F98BA61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F6AEA-B432-5860-B05B-ABC25A383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2C6CA-311A-32CB-C8E0-0801DEDAC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9B071-446E-FA27-C802-7980CB88D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498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5821D-1B2A-1D2F-2AF6-369CB643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B7610-F705-E839-7900-AA6CC0617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97C87-B7B4-6782-C17B-58F2D9DD2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331AA-35D7-C559-CBEF-E7E7AE9E7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3490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A9A5F-7614-24FA-8F65-340095A19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474F2-D5DB-88BD-1BBC-DA9872880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BB963-535C-DB00-CC61-4EC3A2944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45966-53E1-CA22-BC2B-D6B5CD0A2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12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83AB-B1C1-2569-BC25-B424D4F36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81AB2-0035-4D55-ED9E-8835E5C5C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600E0-AE0E-4D83-EFB4-C6C26F71F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CD753-D020-2DAE-C058-0DA41C59E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789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86D1-EA7D-1286-B7BC-6238A801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D2115-48CF-8C6B-C407-C1A6D83E4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B45D2-3357-CD0E-6A3B-AA642DDA6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17F6E-3CF2-2A1A-FAE2-C2E622793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694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7DD40-9A5A-45B1-3A44-C12B02CB5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C6D3A-B91D-1AE9-5E1A-027DEEFA6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1684C-D68D-7602-EA03-39DD49776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5017B-B1BB-BC17-AB6C-24C246D09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95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0512-7763-EBE8-4795-54761B47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78AE7-EC96-9D4B-78F8-C6869BCE0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B7717-DF58-1BF7-2CAA-4EA5432BB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2449B-21FB-6B26-91B3-8DD4160BB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71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6D9E-88DA-8FAD-6DD5-847D45AC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EA273-F8CE-14F6-F395-1590B3674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2E06F-F3AE-50B2-80F6-C482CD473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CDFFD-9373-861E-B78D-BF37B2A7D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69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C4490-5E55-1152-2582-7DA74BA12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16640-0330-CBC5-F84D-785A3A6EF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FB58D-01E3-041B-ED23-F378D46FA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21D3C-F9C3-FEDA-040F-F674817EE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164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38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42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4122-21D7-4D2E-9537-F9D5F36E3D21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E986-61DE-4AB4-91FB-298D4541D173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6C85-4D28-466E-8276-D1328B90FAC2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A0926-7F03-40DF-B510-A433943B4037}" type="datetime3">
              <a:rPr lang="en-US" smtClean="0"/>
              <a:t>1 October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668-7437-4438-91AB-1C90BD88D37C}" type="datetime3">
              <a:rPr lang="en-US" smtClean="0"/>
              <a:t>1 October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1 October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F877-3539-4BD4-86DE-2BE37BC6985F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0C93-7BFE-482C-9BCB-7503D20D7B23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B437-AC66-43EC-9CBF-2B945F499F52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ACE-B2CC-417F-BA68-DB002F313D0E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103D-639F-4D8B-9094-99FCF04F5B20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75470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29FF-3FC9-4ED2-8167-F1E9CD28EC7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-27061"/>
            <a:ext cx="1862765" cy="139707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248130" y="44979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Engineering College(A)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8112125" y="65976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351A7-5C5E-4743-B9A6-C943367A812C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y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303092"/>
            <a:ext cx="5867400" cy="8382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838200" y="990600"/>
            <a:ext cx="105156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0099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32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RESTAURANT MANAGEMENT SYSTEM</a:t>
            </a:r>
            <a:endParaRPr lang="en-US" sz="1400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u="sng" dirty="0">
                <a:sym typeface="+mn-ea"/>
              </a:rPr>
              <a:t>DBMS CORNERSTONE PROJECT</a:t>
            </a:r>
          </a:p>
          <a:p>
            <a:pPr algn="ctr"/>
            <a:endParaRPr lang="en-IN" sz="2800" b="1" u="sng" dirty="0"/>
          </a:p>
          <a:p>
            <a:pPr algn="ctr"/>
            <a:r>
              <a:rPr lang="en-US" sz="2800" b="1" dirty="0">
                <a:solidFill>
                  <a:srgbClr val="002060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IN" sz="2000" dirty="0">
                <a:sym typeface="+mn-ea"/>
              </a:rPr>
              <a:t>Team members:</a:t>
            </a:r>
            <a:endParaRPr lang="en-IN" sz="2000" dirty="0"/>
          </a:p>
          <a:p>
            <a:pPr algn="ctr"/>
            <a:r>
              <a:rPr lang="en-IN" sz="2000" dirty="0">
                <a:sym typeface="+mn-ea"/>
              </a:rPr>
              <a:t>Kinthada Akshaya </a:t>
            </a:r>
            <a:r>
              <a:rPr lang="en-IN" sz="2000" dirty="0" err="1">
                <a:sym typeface="+mn-ea"/>
              </a:rPr>
              <a:t>sri</a:t>
            </a:r>
            <a:r>
              <a:rPr lang="en-IN" sz="2000" dirty="0">
                <a:sym typeface="+mn-ea"/>
              </a:rPr>
              <a:t> </a:t>
            </a:r>
            <a:r>
              <a:rPr lang="en-IN" sz="2000" dirty="0" err="1">
                <a:sym typeface="+mn-ea"/>
              </a:rPr>
              <a:t>mahalakshmi</a:t>
            </a:r>
            <a:endParaRPr lang="en-IN" sz="2000" dirty="0"/>
          </a:p>
          <a:p>
            <a:pPr algn="ctr"/>
            <a:r>
              <a:rPr lang="en-IN" sz="2000" dirty="0">
                <a:sym typeface="+mn-ea"/>
              </a:rPr>
              <a:t>Matta Pravallika</a:t>
            </a:r>
          </a:p>
          <a:p>
            <a:pPr algn="ctr"/>
            <a:r>
              <a:rPr lang="en-IN" sz="2000" dirty="0" err="1">
                <a:sym typeface="+mn-ea"/>
              </a:rPr>
              <a:t>Pachadi</a:t>
            </a:r>
            <a:r>
              <a:rPr lang="en-IN" sz="2000" dirty="0">
                <a:sym typeface="+mn-ea"/>
              </a:rPr>
              <a:t> Jaya Sirisha</a:t>
            </a:r>
          </a:p>
          <a:p>
            <a:pPr algn="ctr"/>
            <a:r>
              <a:rPr lang="en-IN" sz="2000" dirty="0">
                <a:sym typeface="+mn-ea"/>
              </a:rPr>
              <a:t>Gali Prasanna puja </a:t>
            </a:r>
            <a:r>
              <a:rPr lang="en-IN" sz="2000" dirty="0" err="1">
                <a:sym typeface="+mn-ea"/>
              </a:rPr>
              <a:t>srry</a:t>
            </a:r>
            <a:endParaRPr lang="en-IN" sz="2000" dirty="0"/>
          </a:p>
          <a:p>
            <a:pPr algn="ctr"/>
            <a:endParaRPr lang="en-IN" sz="2000" dirty="0"/>
          </a:p>
          <a:p>
            <a:pPr algn="ctr"/>
            <a:r>
              <a:rPr lang="en-IN" sz="2000" b="1" dirty="0">
                <a:solidFill>
                  <a:srgbClr val="002060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Date of Presentation: 30-09-2026</a:t>
            </a:r>
            <a:endParaRPr lang="en-US" sz="2000" b="1" dirty="0">
              <a:solidFill>
                <a:srgbClr val="00206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Centaur" panose="020305040502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Centaur" panose="020305040502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295400"/>
            <a:ext cx="8153400" cy="51308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u="sng" dirty="0">
                <a:sym typeface="+mn-ea"/>
              </a:rPr>
              <a:t>PROJECT</a:t>
            </a:r>
            <a:r>
              <a:rPr lang="en-US" sz="2400" dirty="0">
                <a:sym typeface="+mn-ea"/>
              </a:rPr>
              <a:t> </a:t>
            </a:r>
            <a:r>
              <a:rPr lang="en-US" sz="2400" b="1" u="sng" dirty="0">
                <a:sym typeface="+mn-ea"/>
              </a:rPr>
              <a:t>STATEMENT</a:t>
            </a:r>
            <a:r>
              <a:rPr lang="en-US" sz="2400" dirty="0">
                <a:sym typeface="+mn-ea"/>
              </a:rPr>
              <a:t>: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ym typeface="+mn-ea"/>
              </a:rPr>
              <a:t>                  </a:t>
            </a:r>
            <a:r>
              <a:rPr lang="en-IN" sz="2400" dirty="0">
                <a:sym typeface="+mn-ea"/>
              </a:rPr>
              <a:t>Many restaurants still use manual methods to manage orders, customer details, billing, and employee records.</a:t>
            </a: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u="sng" dirty="0">
                <a:sym typeface="+mn-ea"/>
              </a:rPr>
              <a:t>Problems</a:t>
            </a:r>
            <a:r>
              <a:rPr lang="en-IN" sz="2400" dirty="0">
                <a:sym typeface="+mn-ea"/>
              </a:rPr>
              <a:t>:</a:t>
            </a:r>
            <a:endParaRPr lang="en-IN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Time-consuming</a:t>
            </a:r>
            <a:endParaRPr lang="en-IN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Billing errors</a:t>
            </a:r>
            <a:endParaRPr lang="en-US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+mn-ea"/>
              </a:rPr>
              <a:t>Data Redundancy</a:t>
            </a:r>
            <a:endParaRPr lang="en-US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Difficulty maintaining records</a:t>
            </a:r>
            <a:endParaRPr lang="en-IN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Slow service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u="sng" dirty="0">
                <a:sym typeface="+mn-ea"/>
              </a:rPr>
              <a:t>NEED</a:t>
            </a:r>
            <a:r>
              <a:rPr lang="en-US" sz="2400" dirty="0">
                <a:sym typeface="+mn-ea"/>
              </a:rPr>
              <a:t> </a:t>
            </a:r>
            <a:r>
              <a:rPr lang="en-US" sz="2400" b="1" u="sng" dirty="0">
                <a:sym typeface="+mn-ea"/>
              </a:rPr>
              <a:t>FOR</a:t>
            </a:r>
            <a:r>
              <a:rPr lang="en-US" sz="2400" dirty="0">
                <a:sym typeface="+mn-ea"/>
              </a:rPr>
              <a:t> </a:t>
            </a:r>
            <a:r>
              <a:rPr lang="en-US" sz="2400" b="1" u="sng" dirty="0">
                <a:sym typeface="+mn-ea"/>
              </a:rPr>
              <a:t>THE</a:t>
            </a:r>
            <a:r>
              <a:rPr lang="en-US" sz="2400" dirty="0">
                <a:sym typeface="+mn-ea"/>
              </a:rPr>
              <a:t> </a:t>
            </a:r>
            <a:r>
              <a:rPr lang="en-US" sz="2400" b="1" u="sng" dirty="0">
                <a:sym typeface="+mn-ea"/>
              </a:rPr>
              <a:t>PROJECT</a:t>
            </a:r>
            <a:r>
              <a:rPr lang="en-US" sz="2400" dirty="0">
                <a:sym typeface="+mn-ea"/>
              </a:rPr>
              <a:t>: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sym typeface="+mn-ea"/>
              </a:rPr>
              <a:t>Our system stores all restaurant data in a database, making operations faster, more accurate, and secure.</a:t>
            </a:r>
            <a:endParaRPr lang="en-IN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400" dirty="0"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276599" y="199801"/>
            <a:ext cx="6055482" cy="1261107"/>
            <a:chOff x="13004829" y="1407596"/>
            <a:chExt cx="6141489" cy="1909355"/>
          </a:xfrm>
        </p:grpSpPr>
        <p:grpSp>
          <p:nvGrpSpPr>
            <p:cNvPr id="6" name="Group 5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3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4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3185154" y="1773658"/>
              <a:ext cx="5635331" cy="6970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defRPr/>
              </a:pPr>
              <a:r>
                <a:rPr lang="en-US" sz="2400" b="1" u="sng" dirty="0">
                  <a:sym typeface="+mn-ea"/>
                </a:rPr>
                <a:t>PROJECT STATEMENT &amp; NEED</a:t>
              </a:r>
              <a:r>
                <a:rPr lang="en-US" sz="2400" b="1" dirty="0">
                  <a:sym typeface="+mn-ea"/>
                </a:rPr>
                <a:t>:</a:t>
              </a: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  <a:sym typeface="Arial" panose="020B0604020202020204"/>
              </a:endParaRPr>
            </a:p>
          </p:txBody>
        </p:sp>
      </p:grpSp>
      <p:pic>
        <p:nvPicPr>
          <p:cNvPr id="7" name="Picture 6" descr="slid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514600"/>
            <a:ext cx="4389120" cy="315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928035" y="67944"/>
            <a:ext cx="5200015" cy="1294765"/>
            <a:chOff x="13004829" y="1407596"/>
            <a:chExt cx="6837793" cy="2001631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24262" y="932992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4866038" y="1555829"/>
              <a:ext cx="4976584" cy="1853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IN" sz="2400" b="1" u="sng" dirty="0">
                  <a:solidFill>
                    <a:schemeClr val="bg1"/>
                  </a:solidFill>
                  <a:sym typeface="+mn-ea"/>
                </a:rPr>
                <a:t>OBJECTIVES</a:t>
              </a:r>
              <a:r>
                <a:rPr lang="en-IN" sz="2400" b="1" dirty="0">
                  <a:solidFill>
                    <a:schemeClr val="bg1"/>
                  </a:solidFill>
                  <a:sym typeface="+mn-ea"/>
                </a:rPr>
                <a:t>:</a:t>
              </a:r>
              <a:endParaRPr lang="en-IN" sz="2400" b="1" dirty="0"/>
            </a:p>
            <a:p>
              <a:pPr algn="l">
                <a:lnSpc>
                  <a:spcPct val="150000"/>
                </a:lnSpc>
              </a:pP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75945" y="1752600"/>
            <a:ext cx="7806055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IN" sz="2800" b="1" u="sng" dirty="0">
                <a:sym typeface="+mn-ea"/>
              </a:rPr>
              <a:t>OBJECTIVES</a:t>
            </a:r>
            <a:r>
              <a:rPr lang="en-IN" sz="2800" b="1" dirty="0">
                <a:sym typeface="+mn-ea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Store customer information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Manage menu items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Process customer orders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Generate bills automatically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Store payment details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Manage employee records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Reduce paperwork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ym typeface="+mn-ea"/>
              </a:rPr>
              <a:t>Improve efficiency</a:t>
            </a:r>
            <a:endParaRPr lang="en-US" sz="2000" dirty="0">
              <a:latin typeface="Maiandra GD" panose="020E0502030308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lid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990600"/>
            <a:ext cx="4076700" cy="5280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038600" y="234475"/>
            <a:ext cx="5200015" cy="1294765"/>
            <a:chOff x="13004829" y="1407596"/>
            <a:chExt cx="6837793" cy="2001631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3735452" y="1555829"/>
              <a:ext cx="6107170" cy="1853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2400" b="1" u="sng" dirty="0">
                  <a:solidFill>
                    <a:schemeClr val="bg1"/>
                  </a:solidFill>
                  <a:sym typeface="+mn-ea"/>
                </a:rPr>
                <a:t>Requirements &amp; End Users</a:t>
              </a:r>
              <a:endParaRPr lang="en-IN" sz="2400" b="1" u="sng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IN" sz="2400" b="1" u="sng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90600" y="1219200"/>
            <a:ext cx="10058400" cy="5447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IN" sz="2000" b="1" u="sng" dirty="0">
                <a:sym typeface="+mn-ea"/>
              </a:rPr>
              <a:t>Functional</a:t>
            </a:r>
            <a:r>
              <a:rPr lang="en-IN" sz="2000" b="1" dirty="0">
                <a:sym typeface="+mn-ea"/>
              </a:rPr>
              <a:t> </a:t>
            </a:r>
            <a:r>
              <a:rPr lang="en-IN" sz="2000" b="1" u="sng" dirty="0">
                <a:sym typeface="+mn-ea"/>
              </a:rPr>
              <a:t>Requirements</a:t>
            </a:r>
            <a:r>
              <a:rPr lang="en-IN" sz="2000" b="1" dirty="0">
                <a:sym typeface="+mn-ea"/>
              </a:rPr>
              <a:t>:      </a:t>
            </a:r>
            <a:endParaRPr lang="en-IN" sz="2000" b="1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Add/Edit Customer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Manage Menu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Place Orders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Generate Bills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Process Payments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Store Employee Details</a:t>
            </a:r>
            <a:endParaRPr lang="en-IN" sz="2000" dirty="0"/>
          </a:p>
          <a:p>
            <a:pPr>
              <a:lnSpc>
                <a:spcPct val="100000"/>
              </a:lnSpc>
            </a:pPr>
            <a:r>
              <a:rPr lang="en-IN" sz="2000" b="1" u="sng" dirty="0">
                <a:sym typeface="+mn-ea"/>
              </a:rPr>
              <a:t>Non-Functional</a:t>
            </a:r>
            <a:r>
              <a:rPr lang="en-IN" sz="2000" b="1" dirty="0">
                <a:sym typeface="+mn-ea"/>
              </a:rPr>
              <a:t> </a:t>
            </a:r>
            <a:r>
              <a:rPr lang="en-IN" sz="2000" b="1" u="sng" dirty="0">
                <a:sym typeface="+mn-ea"/>
              </a:rPr>
              <a:t>Requirements</a:t>
            </a:r>
            <a:endParaRPr lang="en-IN" sz="2000" b="1" u="sng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Security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Fast Performance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Easy to Use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Reliable Database</a:t>
            </a:r>
            <a:endParaRPr lang="en-IN" sz="2000" dirty="0"/>
          </a:p>
          <a:p>
            <a:pPr>
              <a:lnSpc>
                <a:spcPct val="100000"/>
              </a:lnSpc>
            </a:pPr>
            <a:r>
              <a:rPr lang="en-IN" sz="2000" b="1" u="sng" dirty="0">
                <a:sym typeface="+mn-ea"/>
              </a:rPr>
              <a:t>End</a:t>
            </a:r>
            <a:r>
              <a:rPr lang="en-IN" sz="2000" b="1" dirty="0">
                <a:sym typeface="+mn-ea"/>
              </a:rPr>
              <a:t> </a:t>
            </a:r>
            <a:r>
              <a:rPr lang="en-IN" sz="2000" b="1" u="sng" dirty="0">
                <a:sym typeface="+mn-ea"/>
              </a:rPr>
              <a:t>Users</a:t>
            </a:r>
            <a:endParaRPr lang="en-IN" sz="2000" b="1" u="sng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Restaurant Manager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Cashier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Waiter </a:t>
            </a:r>
            <a:endParaRPr lang="en-IN" sz="20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ym typeface="+mn-ea"/>
              </a:rPr>
              <a:t>Administrator</a:t>
            </a:r>
            <a:endParaRPr lang="en-IN" sz="2000" dirty="0"/>
          </a:p>
          <a:p>
            <a:pPr algn="just">
              <a:tabLst>
                <a:tab pos="7351395" algn="l"/>
              </a:tabLst>
            </a:pPr>
            <a:endParaRPr lang="en-IN" altLang="en-US" sz="2000" dirty="0">
              <a:latin typeface="Maiandra GD" panose="020E0502030308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slid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47800"/>
            <a:ext cx="6729095" cy="4711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249170" y="234475"/>
            <a:ext cx="8831580" cy="1235076"/>
            <a:chOff x="10651807" y="1407596"/>
            <a:chExt cx="11613141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0651807" y="1407596"/>
              <a:ext cx="11613141" cy="1909355"/>
              <a:chOff x="3380715" y="719582"/>
              <a:chExt cx="6535789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3380715" y="884044"/>
                <a:ext cx="6535789" cy="48895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IN" altLang="en-US" sz="2800" dirty="0"/>
                  <a:t>  </a:t>
                </a:r>
                <a:r>
                  <a:rPr lang="en-IN" altLang="en-US" sz="2800" b="1" dirty="0"/>
                  <a:t> </a:t>
                </a:r>
                <a:r>
                  <a:rPr lang="en-US" altLang="en-US" sz="2800" b="1" dirty="0"/>
                  <a:t>Restaurant Management System – ER Model Explanation</a:t>
                </a: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3230974" y="1506484"/>
              <a:ext cx="5635331" cy="9973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09600" y="1481583"/>
            <a:ext cx="5486400" cy="3837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tabLst>
                <a:tab pos="7351395" algn="l"/>
              </a:tabLst>
            </a:pPr>
            <a:r>
              <a:rPr lang="en-US" altLang="en-US" sz="2800" b="1" dirty="0">
                <a:cs typeface="Times New Roman" panose="02020603050405020304" pitchFamily="18" charset="0"/>
              </a:rPr>
              <a:t>1. CUSTOMER</a:t>
            </a:r>
            <a:r>
              <a:rPr lang="en-IN" altLang="en-US" sz="2800" b="1" dirty="0">
                <a:cs typeface="Times New Roman" panose="02020603050405020304" pitchFamily="18" charset="0"/>
              </a:rPr>
              <a:t>:</a:t>
            </a:r>
            <a:endParaRPr lang="en-US" altLang="en-US" sz="2800" b="1" dirty="0">
              <a:cs typeface="Times New Roman" panose="02020603050405020304" pitchFamily="18" charset="0"/>
            </a:endParaRPr>
          </a:p>
          <a:p>
            <a:pPr indent="0" algn="just">
              <a:buFont typeface="Wingdings" panose="05000000000000000000" pitchFamily="2" charset="2"/>
              <a:buNone/>
              <a:tabLst>
                <a:tab pos="7351395" algn="l"/>
              </a:tabLst>
            </a:pPr>
            <a:r>
              <a:rPr lang="en-IN" altLang="en-US" sz="2000" dirty="0">
                <a:cs typeface="Times New Roman" panose="02020603050405020304" pitchFamily="18" charset="0"/>
              </a:rPr>
              <a:t>   </a:t>
            </a:r>
          </a:p>
          <a:p>
            <a:pPr indent="0" algn="just">
              <a:buFont typeface="Wingdings" panose="05000000000000000000" pitchFamily="2" charset="2"/>
              <a:buNone/>
              <a:tabLst>
                <a:tab pos="7351395" algn="l"/>
              </a:tabLst>
            </a:pPr>
            <a:r>
              <a:rPr lang="en-IN" altLang="en-US" sz="2000" dirty="0">
                <a:cs typeface="Times New Roman" panose="02020603050405020304" pitchFamily="18" charset="0"/>
              </a:rPr>
              <a:t>    </a:t>
            </a:r>
            <a:r>
              <a:rPr lang="en-US" altLang="en-US" sz="2400" dirty="0">
                <a:cs typeface="Times New Roman" panose="02020603050405020304" pitchFamily="18" charset="0"/>
              </a:rPr>
              <a:t>Customer represents the people who visit the restaurant and place orders.</a:t>
            </a:r>
          </a:p>
          <a:p>
            <a:pPr marL="342900" indent="-342900" algn="just">
              <a:buFont typeface="Wingdings" panose="05000000000000000000" pitchFamily="2" charset="2"/>
              <a:buChar char="v"/>
              <a:tabLst>
                <a:tab pos="7351395" algn="l"/>
              </a:tabLst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u="sng" dirty="0">
                <a:cs typeface="Times New Roman" panose="02020603050405020304" pitchFamily="18" charset="0"/>
              </a:rPr>
              <a:t>Customer_ID (PK)</a:t>
            </a:r>
            <a:r>
              <a:rPr lang="en-US" altLang="en-US" sz="2400" dirty="0">
                <a:cs typeface="Times New Roman" panose="02020603050405020304" pitchFamily="18" charset="0"/>
              </a:rPr>
              <a:t>: Uniquely identifies each customer.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Customer_Name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name of the customer.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Phone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customer's contact number.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Email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customer's email address.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086600" y="1658146"/>
            <a:ext cx="325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1. CUSTOMER →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47851"/>
            <a:ext cx="459547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Relationship: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Customer places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One customer can place many orders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584749" y="3489158"/>
            <a:ext cx="54424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CUSTOMER  ───── places ─────&lt;  ORDER</a:t>
            </a:r>
          </a:p>
          <a:p>
            <a:r>
              <a:rPr lang="en-US" sz="2400" b="1" dirty="0"/>
              <a:t>   1                                                         MANY</a:t>
            </a:r>
            <a:endParaRPr lang="en-IN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110662" y="4383765"/>
            <a:ext cx="45954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CUSTOMER : ORDER = 1 : 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066800"/>
            <a:ext cx="5638800" cy="4083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tabLst>
                <a:tab pos="7351395" algn="l"/>
              </a:tabLst>
            </a:pPr>
            <a:r>
              <a:rPr lang="en-US" altLang="en-US" sz="2800" b="1" dirty="0">
                <a:cs typeface="Times New Roman" panose="02020603050405020304" pitchFamily="18" charset="0"/>
              </a:rPr>
              <a:t>2. EMPLOYEE</a:t>
            </a:r>
            <a:r>
              <a:rPr lang="en-IN" altLang="en-US" sz="2800" b="1" dirty="0">
                <a:cs typeface="Times New Roman" panose="02020603050405020304" pitchFamily="18" charset="0"/>
              </a:rPr>
              <a:t>:</a:t>
            </a:r>
            <a:endParaRPr lang="en-US" altLang="en-US" sz="2800" b="1" dirty="0">
              <a:cs typeface="Times New Roman" panose="02020603050405020304" pitchFamily="18" charset="0"/>
            </a:endParaRPr>
          </a:p>
          <a:p>
            <a:pPr algn="just">
              <a:tabLst>
                <a:tab pos="7351395" algn="l"/>
              </a:tabLst>
            </a:pPr>
            <a:endParaRPr lang="en-US" altLang="en-US" dirty="0">
              <a:cs typeface="Times New Roman" panose="02020603050405020304" pitchFamily="18" charset="0"/>
            </a:endParaRPr>
          </a:p>
          <a:p>
            <a:pPr algn="just">
              <a:tabLst>
                <a:tab pos="7351395" algn="l"/>
              </a:tabLst>
            </a:pPr>
            <a:r>
              <a:rPr lang="en-US" altLang="en-US" sz="2400" dirty="0">
                <a:cs typeface="Times New Roman" panose="02020603050405020304" pitchFamily="18" charset="0"/>
              </a:rPr>
              <a:t>Employee represents the restaurant staff who handle customer orders.</a:t>
            </a:r>
          </a:p>
          <a:p>
            <a:pPr algn="just">
              <a:tabLst>
                <a:tab pos="7351395" algn="l"/>
              </a:tabLst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u="sng" dirty="0">
                <a:cs typeface="Times New Roman" panose="02020603050405020304" pitchFamily="18" charset="0"/>
              </a:rPr>
              <a:t>Emp_ID (PK)</a:t>
            </a:r>
            <a:r>
              <a:rPr lang="en-US" altLang="en-US" sz="2400" dirty="0">
                <a:cs typeface="Times New Roman" panose="02020603050405020304" pitchFamily="18" charset="0"/>
              </a:rPr>
              <a:t>: Uniquely identifies each employee.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Emp_Name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name of the employee.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Role</a:t>
            </a:r>
            <a:r>
              <a:rPr lang="en-US" altLang="en-US" sz="2400" dirty="0">
                <a:cs typeface="Times New Roman" panose="02020603050405020304" pitchFamily="18" charset="0"/>
              </a:rPr>
              <a:t>: Specifies the employee's job role, such as waiter or manager.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Phone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employee's contact number.</a:t>
            </a:r>
          </a:p>
          <a:p>
            <a:pPr marL="342900" indent="-342900" algn="just">
              <a:buFont typeface="Wingdings" panose="05000000000000000000" charset="0"/>
              <a:buChar char="Ø"/>
              <a:tabLst>
                <a:tab pos="7351395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Salary</a:t>
            </a:r>
            <a:r>
              <a:rPr lang="en-US" altLang="en-US" sz="2400" dirty="0">
                <a:cs typeface="Times New Roman" panose="02020603050405020304" pitchFamily="18" charset="0"/>
              </a:rPr>
              <a:t>: Stores the employee's salary details.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553199" y="1305796"/>
            <a:ext cx="466986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2. EMPLOYEE → ORDER</a:t>
            </a:r>
          </a:p>
          <a:p>
            <a:r>
              <a:rPr lang="en-IN" sz="2000" b="1" dirty="0"/>
              <a:t>Relationship: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Employee handles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One employee can handle many orders.</a:t>
            </a: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400800" y="2967789"/>
            <a:ext cx="5638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EMPLOYEE  ───── handles ─────&lt;  ORDER</a:t>
            </a:r>
          </a:p>
          <a:p>
            <a:r>
              <a:rPr lang="en-US" sz="2400" b="1" dirty="0"/>
              <a:t>    1                                                         MANY</a:t>
            </a:r>
            <a:endParaRPr lang="en-IN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553199" y="4338904"/>
            <a:ext cx="5638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EMPLOYEE : ORDER = 1 : 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867400" cy="3841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3200" b="1" dirty="0"/>
              <a:t>3.ORDER</a:t>
            </a:r>
            <a:r>
              <a:rPr lang="en-IN" altLang="en-US" sz="3200" b="1" dirty="0"/>
              <a:t>:</a:t>
            </a:r>
            <a:endParaRPr lang="en-US" altLang="en-US" sz="3200" b="1" dirty="0"/>
          </a:p>
          <a:p>
            <a:pPr algn="just"/>
            <a:endParaRPr lang="en-US" altLang="en-US" sz="2000" dirty="0"/>
          </a:p>
          <a:p>
            <a:pPr algn="just"/>
            <a:r>
              <a:rPr lang="en-US" altLang="en-US" sz="2400" dirty="0"/>
              <a:t>Order represents a customer's request for food items from the restaurant.</a:t>
            </a:r>
          </a:p>
          <a:p>
            <a:pPr algn="just"/>
            <a:endParaRPr lang="en-US" altLang="en-US" sz="24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u="sng" dirty="0"/>
              <a:t>Order_ID (PK</a:t>
            </a:r>
            <a:r>
              <a:rPr lang="en-US" altLang="en-US" sz="2400" u="sng" dirty="0"/>
              <a:t>)</a:t>
            </a:r>
            <a:r>
              <a:rPr lang="en-US" altLang="en-US" sz="2400" dirty="0"/>
              <a:t>: Uniquely identifies each order.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Order_Date</a:t>
            </a:r>
            <a:r>
              <a:rPr lang="en-US" altLang="en-US" sz="2400" dirty="0"/>
              <a:t>: Stores the date on which the order was placed.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Total_Amount</a:t>
            </a:r>
            <a:r>
              <a:rPr lang="en-US" altLang="en-US" sz="2400" dirty="0"/>
              <a:t>: Stores the total cost of the order.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Table_No</a:t>
            </a:r>
            <a:r>
              <a:rPr lang="en-US" altLang="en-US" sz="2400" dirty="0"/>
              <a:t>: Identifies the restaurant table associated with the order.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Customer_ID (FK)</a:t>
            </a:r>
            <a:r>
              <a:rPr lang="en-US" altLang="en-US" sz="2400" dirty="0"/>
              <a:t>: Connects the order to the customer who placed it.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72208" y="1143000"/>
            <a:ext cx="4754571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3. ORDER → ORDER_ITEM</a:t>
            </a:r>
          </a:p>
          <a:p>
            <a:r>
              <a:rPr lang="en-IN" sz="2400" b="1" dirty="0"/>
              <a:t>Relationship: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Order contains Order Items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One order can contain many order items.</a:t>
            </a: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781800" y="2957814"/>
            <a:ext cx="5676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ORDER  </a:t>
            </a:r>
            <a:r>
              <a:rPr lang="en-US" sz="2400" b="1" dirty="0"/>
              <a:t>───── contains </a:t>
            </a:r>
            <a:r>
              <a:rPr lang="en-US" sz="2000" b="1" dirty="0"/>
              <a:t>─────&lt;  ORDER_ITEM</a:t>
            </a:r>
          </a:p>
          <a:p>
            <a:r>
              <a:rPr lang="en-US" sz="2000" b="1" dirty="0"/>
              <a:t>  1                                                             MANY</a:t>
            </a:r>
            <a:endParaRPr lang="en-IN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154779" y="4203032"/>
            <a:ext cx="32544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ORDER : ORDER_ITEM = 1 : M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85800" y="951547"/>
            <a:ext cx="5410200" cy="4954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/>
              <a:t>4. </a:t>
            </a:r>
            <a:r>
              <a:rPr lang="en-US" altLang="en-US" sz="2800" b="1" dirty="0"/>
              <a:t>PAYMENT</a:t>
            </a:r>
            <a:r>
              <a:rPr lang="en-IN" altLang="en-US" sz="3200" b="1" dirty="0"/>
              <a:t>:</a:t>
            </a:r>
            <a:endParaRPr lang="en-IN" altLang="en-US" sz="3200" dirty="0"/>
          </a:p>
          <a:p>
            <a:r>
              <a:rPr lang="en-US" altLang="en-US" sz="2400" dirty="0"/>
              <a:t>Payment represents the payment made for a customer's order.</a:t>
            </a:r>
          </a:p>
          <a:p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u="sng" dirty="0" err="1"/>
              <a:t>Payment_ID</a:t>
            </a:r>
            <a:r>
              <a:rPr lang="en-US" altLang="en-US" sz="2400" b="1" u="sng" dirty="0"/>
              <a:t> (PK)</a:t>
            </a:r>
            <a:r>
              <a:rPr lang="en-US" altLang="en-US" sz="2400" dirty="0"/>
              <a:t>: Uniquely identifies each payment.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 err="1"/>
              <a:t>Payment_Date</a:t>
            </a:r>
            <a:r>
              <a:rPr lang="en-US" altLang="en-US" sz="2400" dirty="0"/>
              <a:t>: Stores the date on which the payment was made.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Amount</a:t>
            </a:r>
            <a:r>
              <a:rPr lang="en-US" altLang="en-US" sz="2400" dirty="0"/>
              <a:t>: Stores the amount paid for the order.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 err="1"/>
              <a:t>Payment_Mode</a:t>
            </a:r>
            <a:r>
              <a:rPr lang="en-US" altLang="en-US" sz="2400" dirty="0"/>
              <a:t>: Specifies the payment method, such as cash, card, or UPI.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b="1" dirty="0" err="1"/>
              <a:t>Order_ID</a:t>
            </a:r>
            <a:r>
              <a:rPr lang="en-US" altLang="en-US" sz="2400" b="1" dirty="0"/>
              <a:t> (FK)</a:t>
            </a:r>
            <a:r>
              <a:rPr lang="en-US" altLang="en-US" sz="2400" dirty="0"/>
              <a:t>: Connects the payment to the corresponding order.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0217" y="951547"/>
            <a:ext cx="5851730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ORDER → PAYMENT</a:t>
            </a:r>
          </a:p>
          <a:p>
            <a:r>
              <a:rPr lang="en-IN" sz="2400" b="1" dirty="0"/>
              <a:t>Relationship: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Order has Payment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According to your PPT, one order has one payment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625389" y="2903621"/>
            <a:ext cx="5185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ORDER  ───── has ─────  PAYMENT</a:t>
            </a:r>
          </a:p>
          <a:p>
            <a:r>
              <a:rPr lang="en-US" sz="2400" b="1" dirty="0"/>
              <a:t>  1                                                   1</a:t>
            </a:r>
            <a:endParaRPr lang="en-I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689558" y="4299284"/>
            <a:ext cx="279191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So:</a:t>
            </a:r>
          </a:p>
          <a:p>
            <a:r>
              <a:rPr lang="en-IN" sz="2000" dirty="0"/>
              <a:t>ORDER : PAYMENT = 1 : 1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600200" y="1143000"/>
            <a:ext cx="9785985" cy="4527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/>
              <a:t>5. ORDER_ITEM</a:t>
            </a:r>
            <a:r>
              <a:rPr lang="en-IN" altLang="en-US" sz="3200" b="1" dirty="0"/>
              <a:t>:</a:t>
            </a:r>
            <a:endParaRPr lang="en-US" altLang="en-US" sz="3200" dirty="0"/>
          </a:p>
          <a:p>
            <a:endParaRPr lang="en-US" altLang="en-US" dirty="0"/>
          </a:p>
          <a:p>
            <a:r>
              <a:rPr lang="en-US" altLang="en-US" sz="2800" dirty="0" err="1"/>
              <a:t>Order_Item</a:t>
            </a:r>
            <a:r>
              <a:rPr lang="en-US" altLang="en-US" sz="2800" dirty="0"/>
              <a:t> represents the individual food items included in a particular order.</a:t>
            </a:r>
          </a:p>
          <a:p>
            <a:endParaRPr lang="en-US" alt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b="1" u="sng" dirty="0" err="1"/>
              <a:t>OrderItem_ID</a:t>
            </a:r>
            <a:r>
              <a:rPr lang="en-US" altLang="en-US" sz="2800" b="1" u="sng" dirty="0"/>
              <a:t> (PK)</a:t>
            </a:r>
            <a:r>
              <a:rPr lang="en-US" altLang="en-US" sz="2800" b="1" dirty="0"/>
              <a:t>:</a:t>
            </a:r>
            <a:r>
              <a:rPr lang="en-US" altLang="en-US" sz="2800" dirty="0"/>
              <a:t> Uniquely identifies each order item.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b="1" dirty="0"/>
              <a:t>Quantity:</a:t>
            </a:r>
            <a:r>
              <a:rPr lang="en-US" altLang="en-US" sz="2800" dirty="0"/>
              <a:t> Stores the number of units of the menu item ordered.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b="1" dirty="0" err="1"/>
              <a:t>Order_ID</a:t>
            </a:r>
            <a:r>
              <a:rPr lang="en-US" altLang="en-US" sz="2800" b="1" dirty="0"/>
              <a:t> (FK)</a:t>
            </a:r>
            <a:r>
              <a:rPr lang="en-US" altLang="en-US" sz="2800" dirty="0"/>
              <a:t>: Connects the order item to its corresponding order.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b="1" dirty="0" err="1"/>
              <a:t>Menu_ID</a:t>
            </a:r>
            <a:r>
              <a:rPr lang="en-US" altLang="en-US" sz="2800" b="1" dirty="0"/>
              <a:t> (FK)</a:t>
            </a:r>
            <a:r>
              <a:rPr lang="en-US" altLang="en-US" sz="2800" dirty="0"/>
              <a:t>: Connects the order item to the selected menu item.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10211" y="1447800"/>
            <a:ext cx="568578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3200" b="1" dirty="0"/>
              <a:t>6. MENU</a:t>
            </a:r>
            <a:r>
              <a:rPr lang="en-IN" altLang="en-US" sz="3200" b="1" dirty="0"/>
              <a:t>:</a:t>
            </a:r>
            <a:endParaRPr lang="en-US" altLang="en-US" sz="2000" b="1" dirty="0"/>
          </a:p>
          <a:p>
            <a:pPr algn="just"/>
            <a:endParaRPr lang="en-US" altLang="en-US" sz="2000" dirty="0"/>
          </a:p>
          <a:p>
            <a:pPr algn="just"/>
            <a:r>
              <a:rPr lang="en-US" altLang="en-US" sz="2400" dirty="0"/>
              <a:t>Menu represents the food and beverages available in the restaurant.</a:t>
            </a:r>
          </a:p>
          <a:p>
            <a:pPr algn="just"/>
            <a:endParaRPr lang="en-US" altLang="en-US" sz="24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u="sng" dirty="0"/>
              <a:t>Menu_ID (PK)</a:t>
            </a:r>
            <a:r>
              <a:rPr lang="en-US" altLang="en-US" sz="2400" b="1" dirty="0"/>
              <a:t>:</a:t>
            </a:r>
            <a:r>
              <a:rPr lang="en-US" altLang="en-US" sz="2400" dirty="0"/>
              <a:t> Uniquely identifies each menu item.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Item_Name:</a:t>
            </a:r>
            <a:r>
              <a:rPr lang="en-US" altLang="en-US" sz="2400" dirty="0"/>
              <a:t> Stores the name of the food or beverage.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Category:</a:t>
            </a:r>
            <a:r>
              <a:rPr lang="en-US" altLang="en-US" sz="2400" dirty="0"/>
              <a:t> Specifies the type of item, such as starter, main course, or dessert.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400" b="1" dirty="0"/>
              <a:t>Price:</a:t>
            </a:r>
            <a:r>
              <a:rPr lang="en-US" altLang="en-US" sz="2400" dirty="0"/>
              <a:t> Stores the price of the menu item.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00800" y="1447800"/>
            <a:ext cx="5580502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 MENU → ORDER_ITEM</a:t>
            </a:r>
          </a:p>
          <a:p>
            <a:r>
              <a:rPr lang="en-IN" sz="2400" b="1" dirty="0"/>
              <a:t>Relationship: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Menu Item is included in Order Item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One menu item can appear in many order items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416842" y="3171349"/>
            <a:ext cx="52196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MENU  ───── included in ─────&lt;  ORDER_ITEM</a:t>
            </a:r>
          </a:p>
          <a:p>
            <a:r>
              <a:rPr lang="en-US" sz="2000" b="1" dirty="0"/>
              <a:t>  1                                                          MANY</a:t>
            </a:r>
            <a:endParaRPr lang="en-IN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769768" y="4219074"/>
            <a:ext cx="29594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So:</a:t>
            </a:r>
          </a:p>
          <a:p>
            <a:r>
              <a:rPr lang="en-IN" b="1" dirty="0"/>
              <a:t>MENU : ORDER_ITEM = 1 : M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85800" y="990823"/>
            <a:ext cx="10591800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/>
              <a:t>7.Primary key and Foreign key:</a:t>
            </a:r>
          </a:p>
          <a:p>
            <a:pPr algn="just"/>
            <a:endParaRPr lang="en-IN" sz="3200" dirty="0"/>
          </a:p>
          <a:p>
            <a:pPr algn="just"/>
            <a:r>
              <a:rPr lang="en-IN" sz="2000" dirty="0"/>
              <a:t> </a:t>
            </a:r>
            <a:r>
              <a:rPr lang="en-US" altLang="en-US" sz="2400" b="1" u="sng" dirty="0"/>
              <a:t>Primary Keys (PK)</a:t>
            </a:r>
            <a:r>
              <a:rPr lang="en-IN" altLang="en-US" sz="2400" b="1" dirty="0"/>
              <a:t>:-</a:t>
            </a:r>
            <a:endParaRPr lang="en-US" altLang="en-US" sz="2000" dirty="0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Customer_ID</a:t>
            </a:r>
            <a:r>
              <a:rPr lang="en-US" altLang="en-US" sz="2000" dirty="0"/>
              <a:t> → Uniquely identifies a customer.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Emp_ID</a:t>
            </a:r>
            <a:r>
              <a:rPr lang="en-US" altLang="en-US" sz="2000" dirty="0"/>
              <a:t> → Uniquely identifies an employee.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Order_ID</a:t>
            </a:r>
            <a:r>
              <a:rPr lang="en-US" altLang="en-US" sz="2000" dirty="0"/>
              <a:t> → Uniquely identifies an order.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Payment_ID</a:t>
            </a:r>
            <a:r>
              <a:rPr lang="en-US" altLang="en-US" sz="2000" dirty="0"/>
              <a:t> → Uniquely identifies a payment.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OrderItem_ID</a:t>
            </a:r>
            <a:r>
              <a:rPr lang="en-US" altLang="en-US" sz="2000" dirty="0"/>
              <a:t> → Uniquely identifies an order item.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u="sng" dirty="0"/>
              <a:t>Menu_ID</a:t>
            </a:r>
            <a:r>
              <a:rPr lang="en-US" altLang="en-US" sz="2000" dirty="0"/>
              <a:t> → Uniquely identifies a menu item.</a:t>
            </a:r>
          </a:p>
          <a:p>
            <a:pPr indent="0" algn="just">
              <a:buFont typeface="Wingdings" panose="05000000000000000000" charset="0"/>
              <a:buNone/>
            </a:pPr>
            <a:endParaRPr lang="en-US" altLang="en-US" sz="2000" dirty="0"/>
          </a:p>
          <a:p>
            <a:pPr indent="0" algn="just">
              <a:buFont typeface="Wingdings" panose="05000000000000000000" charset="0"/>
              <a:buNone/>
            </a:pPr>
            <a:r>
              <a:rPr lang="en-US" altLang="en-US" sz="2400" b="1" dirty="0"/>
              <a:t>Foreign Keys (FK)</a:t>
            </a:r>
            <a:r>
              <a:rPr lang="en-IN" altLang="en-US" sz="2400" b="1" dirty="0"/>
              <a:t>:-</a:t>
            </a:r>
            <a:endParaRPr lang="en-US" altLang="en-US" sz="2400" b="1" dirty="0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dirty="0"/>
              <a:t>Customer_ID in ORDER → Links an order to a customer.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dirty="0"/>
              <a:t>Order_ID in PAYMENT → Links a payment to an order.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dirty="0"/>
              <a:t>Order_ID in ORDER_ITEM → Links an order item to an order.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000" dirty="0"/>
              <a:t>Menu_ID in ORDER_ITEM → Links an order item to a menu item.</a:t>
            </a:r>
          </a:p>
          <a:p>
            <a:pPr algn="just"/>
            <a:endParaRPr lang="en-IN" sz="2000" dirty="0"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29653" y="1444866"/>
            <a:ext cx="1097280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3200" b="1" dirty="0"/>
              <a:t>8. Overall Working of the ER Model</a:t>
            </a:r>
            <a:r>
              <a:rPr lang="en-IN" altLang="en-US" sz="3200" b="1" dirty="0"/>
              <a:t>:</a:t>
            </a:r>
          </a:p>
          <a:p>
            <a:pPr algn="just"/>
            <a:endParaRPr lang="en-IN" altLang="en-US" sz="3200" dirty="0"/>
          </a:p>
          <a:p>
            <a:pPr algn="just">
              <a:lnSpc>
                <a:spcPct val="150000"/>
              </a:lnSpc>
            </a:pPr>
            <a:r>
              <a:rPr lang="en-IN" altLang="en-US" sz="3200" dirty="0"/>
              <a:t>             </a:t>
            </a:r>
            <a:r>
              <a:rPr lang="en-IN" altLang="en-US" sz="2800" dirty="0"/>
              <a:t> </a:t>
            </a:r>
            <a:r>
              <a:rPr lang="en-US" altLang="en-US" sz="2400" dirty="0"/>
              <a:t>The Restaurant Management System starts with a Customer placing an Order. Each order is handled by an Employee and can contain multiple Order Items. Each order item refers to a particular Menu item. After the order is completed, the customer makes a Payment for the order. The relationships and primary/foreign keys maintain proper connections between all entities and help manage restaurant operations efficiently.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76601" y="187499"/>
            <a:ext cx="6278245" cy="1273409"/>
            <a:chOff x="13004829" y="1407596"/>
            <a:chExt cx="6367416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4187892" y="1546606"/>
              <a:ext cx="5184353" cy="77217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cap="all" dirty="0">
                  <a:solidFill>
                    <a:schemeClr val="bg1"/>
                  </a:solidFill>
                  <a:latin typeface="+mj-lt"/>
                  <a:ea typeface="+mj-ea"/>
                  <a:cs typeface="+mj-cs"/>
                  <a:sym typeface="+mn-ea"/>
                </a:rPr>
                <a:t>Entities &amp; Attributes</a:t>
              </a:r>
              <a:endParaRPr lang="en-US" sz="2800" b="1" u="sng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482330" y="1853184"/>
            <a:ext cx="4371340" cy="3667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1000"/>
              </a:spcBef>
              <a:buSzPct val="80000"/>
            </a:pPr>
            <a:r>
              <a:rPr lang="en-US" sz="2400" b="1" u="sng" dirty="0">
                <a:sym typeface="+mn-ea"/>
              </a:rPr>
              <a:t>Primary Keys</a:t>
            </a:r>
            <a:endParaRPr lang="en-US" sz="2400" b="1" u="sng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Customer_ID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Order_ID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Menu_ID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Employee_ID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Payment_ID</a:t>
            </a:r>
            <a:r>
              <a:rPr lang="en-US" sz="2400" dirty="0">
                <a:sym typeface="+mn-ea"/>
              </a:rPr>
              <a:t> </a:t>
            </a:r>
            <a:endParaRPr lang="en-US" sz="2400" dirty="0"/>
          </a:p>
          <a:p>
            <a:pPr lvl="0">
              <a:spcBef>
                <a:spcPts val="1000"/>
              </a:spcBef>
              <a:buSzPct val="80000"/>
            </a:pPr>
            <a:r>
              <a:rPr lang="en-US" sz="2400" dirty="0" err="1">
                <a:sym typeface="+mn-ea"/>
              </a:rPr>
              <a:t>OrderItem_ID</a:t>
            </a:r>
            <a:endParaRPr 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b="1" dirty="0">
              <a:latin typeface="Book Antiqua" panose="0204060205030503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b="1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Maiandra GD" panose="020E0502030308020204" pitchFamily="34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5"/>
            <p:custDataLst>
              <p:tags r:id="rId1"/>
            </p:custDataLst>
          </p:nvPr>
        </p:nvGraphicFramePr>
        <p:xfrm>
          <a:off x="1524000" y="1853184"/>
          <a:ext cx="6563360" cy="3802097"/>
        </p:xfrm>
        <a:graphic>
          <a:graphicData uri="http://schemas.openxmlformats.org/drawingml/2006/table">
            <a:tbl>
              <a:tblPr firstRow="1" bandRow="1"/>
              <a:tblGrid>
                <a:gridCol w="243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 u="sng" dirty="0"/>
                        <a:t>Entity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1" u="sng" dirty="0"/>
                        <a:t>Attributes                                               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/>
                        <a:t>Customer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Customer_ID</a:t>
                      </a:r>
                      <a:r>
                        <a:rPr lang="en-IN" sz="2000" dirty="0"/>
                        <a:t>, Name, Phone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/>
                        <a:t>Order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Order_ID</a:t>
                      </a:r>
                      <a:r>
                        <a:rPr lang="en-IN" sz="2000" dirty="0"/>
                        <a:t>, Date, </a:t>
                      </a:r>
                      <a:r>
                        <a:rPr lang="en-IN" sz="2000" dirty="0" err="1"/>
                        <a:t>Total_Amount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/>
                        <a:t>Menu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Menu_ID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 err="1"/>
                        <a:t>Item_Name</a:t>
                      </a:r>
                      <a:r>
                        <a:rPr lang="en-IN" sz="2000" dirty="0"/>
                        <a:t>, Price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/>
                        <a:t>Employee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err="1"/>
                        <a:t>Employee_ID</a:t>
                      </a:r>
                      <a:r>
                        <a:rPr lang="en-IN" sz="2000"/>
                        <a:t>, Name, Role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88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/>
                        <a:t>Payment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Payment_ID</a:t>
                      </a:r>
                      <a:r>
                        <a:rPr lang="en-IN" sz="2000" dirty="0"/>
                        <a:t>, Amount, Mode</a:t>
                      </a:r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36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Order_Item</a:t>
                      </a:r>
                      <a:endParaRPr lang="en-IN" sz="2000" dirty="0"/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IN" sz="2000" dirty="0" err="1"/>
                        <a:t>OrderItem_ID</a:t>
                      </a:r>
                      <a:r>
                        <a:rPr lang="en-IN" sz="2000" dirty="0"/>
                        <a:t>, Quantity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2000" dirty="0"/>
                    </a:p>
                  </a:txBody>
                  <a:tcPr marL="86842" marR="86842" marT="43421" marB="434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76602" y="187499"/>
            <a:ext cx="6866890" cy="1457960"/>
            <a:chOff x="13004829" y="1407596"/>
            <a:chExt cx="6964421" cy="2186071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198" y="884464"/>
                <a:ext cx="3094952" cy="547279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4059732" y="1518994"/>
              <a:ext cx="5909518" cy="20746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2800" b="1" u="sng" dirty="0">
                  <a:solidFill>
                    <a:schemeClr val="bg1"/>
                  </a:solidFill>
                  <a:sym typeface="+mn-ea"/>
                </a:rPr>
                <a:t>Relationships &amp; Cardinality</a:t>
              </a:r>
              <a:endParaRPr lang="en-US" sz="2800" b="1" u="sng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sz="2800" b="1" u="sng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447800" y="1833526"/>
          <a:ext cx="10527665" cy="3193769"/>
        </p:xfrm>
        <a:graphic>
          <a:graphicData uri="http://schemas.openxmlformats.org/drawingml/2006/table">
            <a:tbl>
              <a:tblPr/>
              <a:tblGrid>
                <a:gridCol w="5269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Cardinality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→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Order → </a:t>
                      </a:r>
                      <a:r>
                        <a:rPr lang="en-IN" dirty="0" err="1"/>
                        <a:t>Order_Item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Menu → </a:t>
                      </a:r>
                      <a:r>
                        <a:rPr lang="en-IN" dirty="0" err="1"/>
                        <a:t>Order_Item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 →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 → 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: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715C-3F3A-429B-BE97-2A8FD991BE90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380059" y="156935"/>
            <a:ext cx="7258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RESTAURANT MANAGEMENT SYSTEM - ER DIAGRAM</a:t>
            </a:r>
          </a:p>
        </p:txBody>
      </p:sp>
      <p:pic>
        <p:nvPicPr>
          <p:cNvPr id="11" name="Picture 10" descr="Screenshot 2026-09-30 0850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960" y="563245"/>
            <a:ext cx="5115560" cy="59137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16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715C-3F3A-429B-BE97-2A8FD991BE90}" type="datetime3">
              <a:rPr lang="en-US" smtClean="0"/>
              <a:t>1 October 2026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409950" y="489293"/>
            <a:ext cx="6278245" cy="1273409"/>
            <a:chOff x="13004829" y="1407596"/>
            <a:chExt cx="6367416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3468522" y="1546606"/>
              <a:ext cx="5903723" cy="77217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Database implementation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021305" y="1876926"/>
            <a:ext cx="334303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EMPLOYEE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MANAGER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WAITER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CHEF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RESTAURANT_ORDERS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ORDER_ITEM</a:t>
            </a:r>
            <a:endParaRPr lang="en-I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715C-3F3A-429B-BE97-2A8FD991BE90}" type="datetime3">
              <a:rPr lang="en-US" smtClean="0"/>
              <a:t>1 October 2026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409950" y="489293"/>
            <a:ext cx="6278245" cy="1273409"/>
            <a:chOff x="13004829" y="1407596"/>
            <a:chExt cx="6367416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4028820" y="1578862"/>
              <a:ext cx="5343425" cy="68422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Other tables created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09601" y="1481843"/>
            <a:ext cx="3932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Database Tables Created: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44700" y="1957647"/>
          <a:ext cx="8115300" cy="43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Important Foreign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Supervisor_id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Employee_id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Employee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Waiter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err="1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err="1"/>
                        <a:t>Employee_id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Employee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Chef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err="1"/>
                        <a:t>Employee_id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err="1"/>
                        <a:t>Employee_id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Employee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Customer_id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__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err="1"/>
                        <a:t>Menu_id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__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 err="1"/>
                        <a:t>Restaurant_Orders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err="1"/>
                        <a:t>Order_id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Customer_id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Customer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/>
                        <a:t>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Payment_id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Order_id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Orders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870">
                <a:tc>
                  <a:txBody>
                    <a:bodyPr/>
                    <a:lstStyle/>
                    <a:p>
                      <a:r>
                        <a:rPr lang="en-IN" dirty="0" err="1"/>
                        <a:t>Order_Item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Order_item_id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Order_id</a:t>
                      </a:r>
                      <a:r>
                        <a:rPr lang="en-IN" dirty="0" err="1">
                          <a:sym typeface="Wingdings" panose="05000000000000000000" pitchFamily="2" charset="2"/>
                        </a:rPr>
                        <a:t>menu_id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18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/>
          <p:cNvGrpSpPr/>
          <p:nvPr/>
        </p:nvGrpSpPr>
        <p:grpSpPr>
          <a:xfrm>
            <a:off x="3409950" y="489293"/>
            <a:ext cx="6278244" cy="1273409"/>
            <a:chOff x="13004829" y="1407596"/>
            <a:chExt cx="6367415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4415230" y="1528631"/>
              <a:ext cx="4957014" cy="79014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Table Creation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866900" y="1607325"/>
            <a:ext cx="560069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CREATE TABLE employee (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employee_id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NUMBER PRIMARY KEY,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emp_name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VARCHAR2(100) NOT NULL,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role VARCHAR2(20) NOT NULL,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phone VARCHAR2(15) UNIQUE,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salary NUMBER(10,2),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supervisor_id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NUMBER,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CONSTRAINT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fk_employee_supervisor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FOREIGN KEY (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supervisor_id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REFERENCES employee(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employee_id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);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6801" y="1190991"/>
            <a:ext cx="215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EMPLOYEE: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012" y="1652656"/>
            <a:ext cx="4732388" cy="46121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5438308"/>
            <a:ext cx="627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INTO employee</a:t>
            </a:r>
          </a:p>
          <a:p>
            <a:r>
              <a:rPr lang="en-US" dirty="0"/>
              <a:t>(</a:t>
            </a:r>
            <a:r>
              <a:rPr lang="en-US" dirty="0" err="1"/>
              <a:t>employee_id</a:t>
            </a:r>
            <a:r>
              <a:rPr lang="en-US" dirty="0"/>
              <a:t>, </a:t>
            </a:r>
            <a:r>
              <a:rPr lang="en-US" dirty="0" err="1"/>
              <a:t>emp_name</a:t>
            </a:r>
            <a:r>
              <a:rPr lang="en-US" dirty="0"/>
              <a:t>, role, phone, salary, </a:t>
            </a:r>
            <a:r>
              <a:rPr lang="en-US" dirty="0" err="1"/>
              <a:t>supervisor_id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'Amit', 'Manager', '9000000001', 60000, NULL);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27004" y="5085200"/>
            <a:ext cx="1160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Example: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/>
          <p:cNvGrpSpPr/>
          <p:nvPr/>
        </p:nvGrpSpPr>
        <p:grpSpPr>
          <a:xfrm>
            <a:off x="2971800" y="28074"/>
            <a:ext cx="7226880" cy="1273409"/>
            <a:chOff x="12717790" y="1407596"/>
            <a:chExt cx="6654455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770490" y="884464"/>
                <a:ext cx="3156661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2717790" y="1578862"/>
              <a:ext cx="6654455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Customer table creation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80733" y="1066533"/>
            <a:ext cx="3932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Customer: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67" y="1495256"/>
            <a:ext cx="6019801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CREATE TABLE customers (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customer_id NUMBER NOT NULL,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order_id NUMBER NOT NULL,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customer_name VARCHAR2(100) NOT NULL,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phone VARCHAR2(15),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pin VARCHAR2(10),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city VARCHAR2(50),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state VARCHAR2(50),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order_date DATE,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total_amount NUMBER(10,2),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CONSTRAINT pk_customer_order</a:t>
            </a:r>
          </a:p>
          <a:p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        PRIMARY KEY (customer_id, order_id)</a:t>
            </a:r>
            <a:r>
              <a:rPr lang="en-IN" altLang="en-US" dirty="0">
                <a:solidFill>
                  <a:schemeClr val="tx2">
                    <a:lumMod val="75000"/>
                  </a:schemeClr>
                </a:solidFill>
              </a:rPr>
              <a:t>  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715" y="5332687"/>
            <a:ext cx="862774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dirty="0"/>
              <a:t>INSERT INTO customer</a:t>
            </a:r>
            <a:r>
              <a:rPr lang="en-IN" altLang="en-US" dirty="0"/>
              <a:t>s</a:t>
            </a:r>
            <a:endParaRPr lang="en-US" altLang="en-US" dirty="0"/>
          </a:p>
          <a:p>
            <a:pPr algn="l"/>
            <a:r>
              <a:rPr lang="en-US" altLang="en-US" dirty="0"/>
              <a:t>(customer_id, order_id, customer_name, phone, pin, city, state, order_date, total_amount)</a:t>
            </a:r>
          </a:p>
          <a:p>
            <a:pPr algn="l"/>
            <a:r>
              <a:rPr lang="en-US" altLang="en-US" dirty="0"/>
              <a:t>VALUES</a:t>
            </a:r>
          </a:p>
          <a:p>
            <a:pPr algn="l"/>
            <a:r>
              <a:rPr lang="en-US" altLang="en-US" dirty="0"/>
              <a:t>(1, 1, 'John', '9100000001', '400001', 'Mumbai', 'Maharashtra', '01-SEP-26', 350);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34" y="4910761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  <p:pic>
        <p:nvPicPr>
          <p:cNvPr id="3" name="Picture 2" descr="Screenshot 2026-09-29 2216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402715"/>
            <a:ext cx="7314565" cy="39700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/>
          <p:cNvGrpSpPr/>
          <p:nvPr/>
        </p:nvGrpSpPr>
        <p:grpSpPr>
          <a:xfrm>
            <a:off x="2971800" y="28074"/>
            <a:ext cx="7226880" cy="1273409"/>
            <a:chOff x="12717790" y="1407596"/>
            <a:chExt cx="6654455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770490" y="884464"/>
                <a:ext cx="3156661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2717790" y="1578862"/>
              <a:ext cx="6654455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Customer table creation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095375" y="1828800"/>
            <a:ext cx="5927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CREATE TABLE menu (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menu_id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INTEGER PRIMARY KEY,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item_name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VARCHAR2(100) NOT NULL,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category VARCHAR2(50),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price NUMBER(10,2)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);</a:t>
            </a:r>
            <a:endParaRPr lang="en-IN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3092" y="1190911"/>
            <a:ext cx="154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Menu: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597587"/>
            <a:ext cx="4201356" cy="40308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1895" y="4844716"/>
            <a:ext cx="42307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INSERT INTO menu</a:t>
            </a:r>
          </a:p>
          <a:p>
            <a:r>
              <a:rPr lang="en-IN" sz="2000" dirty="0"/>
              <a:t>(</a:t>
            </a:r>
            <a:r>
              <a:rPr lang="en-IN" sz="2000" dirty="0" err="1"/>
              <a:t>menu_id</a:t>
            </a:r>
            <a:r>
              <a:rPr lang="en-IN" sz="2000" dirty="0"/>
              <a:t>, </a:t>
            </a:r>
            <a:r>
              <a:rPr lang="en-IN" sz="2000" dirty="0" err="1"/>
              <a:t>item_name</a:t>
            </a:r>
            <a:r>
              <a:rPr lang="en-IN" sz="2000" dirty="0"/>
              <a:t>, category, price)</a:t>
            </a:r>
          </a:p>
          <a:p>
            <a:r>
              <a:rPr lang="en-IN" sz="2000" dirty="0"/>
              <a:t>VALUES</a:t>
            </a:r>
          </a:p>
          <a:p>
            <a:r>
              <a:rPr lang="en-IN" sz="2000" dirty="0"/>
              <a:t>(1, 'Margherita Pizza', 'Pizza', 350);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048" y="4402831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21</a:t>
            </a:fld>
            <a:endParaRPr lang="en-US" dirty="0"/>
          </a:p>
        </p:txBody>
      </p:sp>
      <p:pic>
        <p:nvPicPr>
          <p:cNvPr id="20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pic>
        <p:nvPicPr>
          <p:cNvPr id="22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250" y="417226"/>
            <a:ext cx="1543050" cy="600075"/>
          </a:xfrm>
          <a:prstGeom prst="rect">
            <a:avLst/>
          </a:prstGeom>
          <a:noFill/>
        </p:spPr>
      </p:pic>
      <p:grpSp>
        <p:nvGrpSpPr>
          <p:cNvPr id="25" name="Group 24"/>
          <p:cNvGrpSpPr/>
          <p:nvPr/>
        </p:nvGrpSpPr>
        <p:grpSpPr>
          <a:xfrm>
            <a:off x="3562350" y="489293"/>
            <a:ext cx="6038850" cy="1273409"/>
            <a:chOff x="12517184" y="1407596"/>
            <a:chExt cx="7327127" cy="1909355"/>
          </a:xfrm>
        </p:grpSpPr>
        <p:grpSp>
          <p:nvGrpSpPr>
            <p:cNvPr id="26" name="Group 25"/>
            <p:cNvGrpSpPr/>
            <p:nvPr/>
          </p:nvGrpSpPr>
          <p:grpSpPr>
            <a:xfrm>
              <a:off x="12517184" y="1407596"/>
              <a:ext cx="7327127" cy="1909355"/>
              <a:chOff x="4430535" y="719582"/>
              <a:chExt cx="4123652" cy="1077033"/>
            </a:xfrm>
          </p:grpSpPr>
          <p:pic>
            <p:nvPicPr>
              <p:cNvPr id="28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29" name="object 4"/>
              <p:cNvSpPr/>
              <p:nvPr/>
            </p:nvSpPr>
            <p:spPr>
              <a:xfrm>
                <a:off x="4430535" y="834504"/>
                <a:ext cx="4123652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27" name="Rectangle 26"/>
            <p:cNvSpPr/>
            <p:nvPr/>
          </p:nvSpPr>
          <p:spPr>
            <a:xfrm>
              <a:off x="12850265" y="1528631"/>
              <a:ext cx="6994045" cy="79014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Payment table creation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66307" y="1605524"/>
            <a:ext cx="559208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CREATE TABLE payment (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payment_id</a:t>
            </a:r>
            <a:r>
              <a:rPr lang="en-US" sz="2000" dirty="0">
                <a:solidFill>
                  <a:srgbClr val="002060"/>
                </a:solidFill>
              </a:rPr>
              <a:t> INTEGER PRIMARY KEY,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payment_date</a:t>
            </a:r>
            <a:r>
              <a:rPr lang="en-US" sz="2000" dirty="0">
                <a:solidFill>
                  <a:srgbClr val="002060"/>
                </a:solidFill>
              </a:rPr>
              <a:t> DATE,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amount NUMBER(10,2),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payment_mode</a:t>
            </a:r>
            <a:r>
              <a:rPr lang="en-US" sz="2000" dirty="0">
                <a:solidFill>
                  <a:srgbClr val="002060"/>
                </a:solidFill>
              </a:rPr>
              <a:t> VARCHAR2(30),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order_id</a:t>
            </a:r>
            <a:r>
              <a:rPr lang="en-US" sz="2000" dirty="0">
                <a:solidFill>
                  <a:srgbClr val="002060"/>
                </a:solidFill>
              </a:rPr>
              <a:t> NUMBER NOT NULL,</a:t>
            </a:r>
          </a:p>
          <a:p>
            <a:endParaRPr lang="en-US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    CONSTRAINT </a:t>
            </a:r>
            <a:r>
              <a:rPr lang="en-US" sz="2000" dirty="0" err="1">
                <a:solidFill>
                  <a:srgbClr val="002060"/>
                </a:solidFill>
              </a:rPr>
              <a:t>fk_payment_order</a:t>
            </a:r>
            <a:endParaRPr lang="en-US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    FOREIGN KEY (</a:t>
            </a:r>
            <a:r>
              <a:rPr lang="en-US" sz="2000" dirty="0" err="1">
                <a:solidFill>
                  <a:srgbClr val="002060"/>
                </a:solidFill>
              </a:rPr>
              <a:t>order_id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REFERENCES </a:t>
            </a:r>
            <a:r>
              <a:rPr lang="en-US" sz="2000" dirty="0" err="1">
                <a:solidFill>
                  <a:srgbClr val="002060"/>
                </a:solidFill>
              </a:rPr>
              <a:t>restaurant_orders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 err="1">
                <a:solidFill>
                  <a:srgbClr val="002060"/>
                </a:solidFill>
              </a:rPr>
              <a:t>order_id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);</a:t>
            </a:r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6250" y="1156321"/>
            <a:ext cx="1696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Payment: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989" y="1914087"/>
            <a:ext cx="5117432" cy="379850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6553" y="5485052"/>
            <a:ext cx="62806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INTO payment</a:t>
            </a:r>
          </a:p>
          <a:p>
            <a:r>
              <a:rPr lang="en-US" dirty="0"/>
              <a:t>(</a:t>
            </a:r>
            <a:r>
              <a:rPr lang="en-US" dirty="0" err="1"/>
              <a:t>payment_id</a:t>
            </a:r>
            <a:r>
              <a:rPr lang="en-US" dirty="0"/>
              <a:t>, </a:t>
            </a:r>
            <a:r>
              <a:rPr lang="en-US" dirty="0" err="1"/>
              <a:t>payment_date</a:t>
            </a:r>
            <a:r>
              <a:rPr lang="en-US" dirty="0"/>
              <a:t>, amount, </a:t>
            </a:r>
            <a:r>
              <a:rPr lang="en-US" dirty="0" err="1"/>
              <a:t>payment_mode</a:t>
            </a:r>
            <a:r>
              <a:rPr lang="en-US" dirty="0"/>
              <a:t>, </a:t>
            </a:r>
            <a:r>
              <a:rPr lang="en-US" dirty="0" err="1"/>
              <a:t>order_id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DATE '2026-09-01', 350, 'Cash', 1);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323850" y="5083399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22</a:t>
            </a:fld>
            <a:endParaRPr lang="en-US" dirty="0"/>
          </a:p>
        </p:txBody>
      </p:sp>
      <p:pic>
        <p:nvPicPr>
          <p:cNvPr id="20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pic>
        <p:nvPicPr>
          <p:cNvPr id="22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250" y="417226"/>
            <a:ext cx="1543050" cy="600075"/>
          </a:xfrm>
          <a:prstGeom prst="rect">
            <a:avLst/>
          </a:prstGeom>
          <a:noFill/>
        </p:spPr>
      </p:pic>
      <p:grpSp>
        <p:nvGrpSpPr>
          <p:cNvPr id="25" name="Group 24"/>
          <p:cNvGrpSpPr/>
          <p:nvPr/>
        </p:nvGrpSpPr>
        <p:grpSpPr>
          <a:xfrm>
            <a:off x="3562350" y="489293"/>
            <a:ext cx="6038850" cy="1273409"/>
            <a:chOff x="12517184" y="1407596"/>
            <a:chExt cx="7327127" cy="1909355"/>
          </a:xfrm>
        </p:grpSpPr>
        <p:grpSp>
          <p:nvGrpSpPr>
            <p:cNvPr id="26" name="Group 25"/>
            <p:cNvGrpSpPr/>
            <p:nvPr/>
          </p:nvGrpSpPr>
          <p:grpSpPr>
            <a:xfrm>
              <a:off x="12517184" y="1407596"/>
              <a:ext cx="7327127" cy="1909355"/>
              <a:chOff x="4430535" y="719582"/>
              <a:chExt cx="4123652" cy="1077033"/>
            </a:xfrm>
          </p:grpSpPr>
          <p:pic>
            <p:nvPicPr>
              <p:cNvPr id="28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29" name="object 4"/>
              <p:cNvSpPr/>
              <p:nvPr/>
            </p:nvSpPr>
            <p:spPr>
              <a:xfrm>
                <a:off x="4430535" y="834504"/>
                <a:ext cx="4123652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27" name="Rectangle 26"/>
            <p:cNvSpPr/>
            <p:nvPr/>
          </p:nvSpPr>
          <p:spPr>
            <a:xfrm>
              <a:off x="12850265" y="1528631"/>
              <a:ext cx="6994045" cy="79014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Order item table creation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095375" y="1711487"/>
            <a:ext cx="5257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CREATE TABLE </a:t>
            </a:r>
            <a:r>
              <a:rPr lang="en-IN" dirty="0" err="1">
                <a:solidFill>
                  <a:srgbClr val="002060"/>
                </a:solidFill>
              </a:rPr>
              <a:t>order_item</a:t>
            </a:r>
            <a:r>
              <a:rPr lang="en-IN" dirty="0">
                <a:solidFill>
                  <a:srgbClr val="002060"/>
                </a:solidFill>
              </a:rPr>
              <a:t> (</a:t>
            </a:r>
          </a:p>
          <a:p>
            <a:r>
              <a:rPr lang="en-IN" dirty="0">
                <a:solidFill>
                  <a:srgbClr val="002060"/>
                </a:solidFill>
              </a:rPr>
              <a:t>    </a:t>
            </a:r>
            <a:r>
              <a:rPr lang="en-IN" dirty="0" err="1">
                <a:solidFill>
                  <a:srgbClr val="002060"/>
                </a:solidFill>
              </a:rPr>
              <a:t>order_item_id</a:t>
            </a:r>
            <a:r>
              <a:rPr lang="en-IN" dirty="0">
                <a:solidFill>
                  <a:srgbClr val="002060"/>
                </a:solidFill>
              </a:rPr>
              <a:t> INTEGER PRIMARY KEY,</a:t>
            </a:r>
          </a:p>
          <a:p>
            <a:r>
              <a:rPr lang="en-IN" dirty="0">
                <a:solidFill>
                  <a:srgbClr val="002060"/>
                </a:solidFill>
              </a:rPr>
              <a:t>    quantity NUMBER NOT NULL,</a:t>
            </a:r>
          </a:p>
          <a:p>
            <a:r>
              <a:rPr lang="en-IN" dirty="0">
                <a:solidFill>
                  <a:srgbClr val="002060"/>
                </a:solidFill>
              </a:rPr>
              <a:t>    </a:t>
            </a:r>
            <a:r>
              <a:rPr lang="en-IN" dirty="0" err="1">
                <a:solidFill>
                  <a:srgbClr val="002060"/>
                </a:solidFill>
              </a:rPr>
              <a:t>order_id</a:t>
            </a:r>
            <a:r>
              <a:rPr lang="en-IN" dirty="0">
                <a:solidFill>
                  <a:srgbClr val="002060"/>
                </a:solidFill>
              </a:rPr>
              <a:t> NUMBER NOT NULL,</a:t>
            </a:r>
          </a:p>
          <a:p>
            <a:r>
              <a:rPr lang="en-IN" dirty="0">
                <a:solidFill>
                  <a:srgbClr val="002060"/>
                </a:solidFill>
              </a:rPr>
              <a:t>    </a:t>
            </a:r>
            <a:r>
              <a:rPr lang="en-IN" dirty="0" err="1">
                <a:solidFill>
                  <a:srgbClr val="002060"/>
                </a:solidFill>
              </a:rPr>
              <a:t>menu_id</a:t>
            </a:r>
            <a:r>
              <a:rPr lang="en-IN" dirty="0">
                <a:solidFill>
                  <a:srgbClr val="002060"/>
                </a:solidFill>
              </a:rPr>
              <a:t> NUMBER NOT NULL,</a:t>
            </a:r>
          </a:p>
          <a:p>
            <a:r>
              <a:rPr lang="en-IN" dirty="0">
                <a:solidFill>
                  <a:srgbClr val="002060"/>
                </a:solidFill>
              </a:rPr>
              <a:t>    CONSTRAINT </a:t>
            </a:r>
            <a:r>
              <a:rPr lang="en-IN" dirty="0" err="1">
                <a:solidFill>
                  <a:srgbClr val="002060"/>
                </a:solidFill>
              </a:rPr>
              <a:t>fk_orderitem_order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    FOREIGN KEY (</a:t>
            </a:r>
            <a:r>
              <a:rPr lang="en-IN" dirty="0" err="1">
                <a:solidFill>
                  <a:srgbClr val="002060"/>
                </a:solidFill>
              </a:rPr>
              <a:t>order_id</a:t>
            </a:r>
            <a:r>
              <a:rPr lang="en-IN" dirty="0">
                <a:solidFill>
                  <a:srgbClr val="002060"/>
                </a:solidFill>
              </a:rPr>
              <a:t>)</a:t>
            </a:r>
          </a:p>
          <a:p>
            <a:r>
              <a:rPr lang="en-IN" dirty="0">
                <a:solidFill>
                  <a:srgbClr val="002060"/>
                </a:solidFill>
              </a:rPr>
              <a:t>    REFERENCES </a:t>
            </a:r>
            <a:r>
              <a:rPr lang="en-IN" dirty="0" err="1">
                <a:solidFill>
                  <a:srgbClr val="002060"/>
                </a:solidFill>
              </a:rPr>
              <a:t>restaurant_orders</a:t>
            </a:r>
            <a:r>
              <a:rPr lang="en-IN" dirty="0">
                <a:solidFill>
                  <a:srgbClr val="002060"/>
                </a:solidFill>
              </a:rPr>
              <a:t>(</a:t>
            </a:r>
            <a:r>
              <a:rPr lang="en-IN" dirty="0" err="1">
                <a:solidFill>
                  <a:srgbClr val="002060"/>
                </a:solidFill>
              </a:rPr>
              <a:t>order_id</a:t>
            </a:r>
            <a:r>
              <a:rPr lang="en-IN" dirty="0">
                <a:solidFill>
                  <a:srgbClr val="002060"/>
                </a:solidFill>
              </a:rPr>
              <a:t>),</a:t>
            </a:r>
          </a:p>
          <a:p>
            <a:r>
              <a:rPr lang="en-IN" dirty="0">
                <a:solidFill>
                  <a:srgbClr val="002060"/>
                </a:solidFill>
              </a:rPr>
              <a:t>    CONSTRAINT </a:t>
            </a:r>
            <a:r>
              <a:rPr lang="en-IN" dirty="0" err="1">
                <a:solidFill>
                  <a:srgbClr val="002060"/>
                </a:solidFill>
              </a:rPr>
              <a:t>fk_orderitem_menu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    FOREIGN KEY (</a:t>
            </a:r>
            <a:r>
              <a:rPr lang="en-IN" dirty="0" err="1">
                <a:solidFill>
                  <a:srgbClr val="002060"/>
                </a:solidFill>
              </a:rPr>
              <a:t>menu_id</a:t>
            </a:r>
            <a:r>
              <a:rPr lang="en-IN" dirty="0">
                <a:solidFill>
                  <a:srgbClr val="002060"/>
                </a:solidFill>
              </a:rPr>
              <a:t>)</a:t>
            </a:r>
          </a:p>
          <a:p>
            <a:r>
              <a:rPr lang="en-IN" dirty="0">
                <a:solidFill>
                  <a:srgbClr val="002060"/>
                </a:solidFill>
              </a:rPr>
              <a:t>    REFERENCES menu(</a:t>
            </a:r>
            <a:r>
              <a:rPr lang="en-IN" dirty="0" err="1">
                <a:solidFill>
                  <a:srgbClr val="002060"/>
                </a:solidFill>
              </a:rPr>
              <a:t>menu_id</a:t>
            </a:r>
            <a:r>
              <a:rPr lang="en-IN" dirty="0">
                <a:solidFill>
                  <a:srgbClr val="002060"/>
                </a:solidFill>
              </a:rPr>
              <a:t>)</a:t>
            </a:r>
          </a:p>
          <a:p>
            <a:r>
              <a:rPr lang="en-IN" dirty="0">
                <a:solidFill>
                  <a:srgbClr val="002060"/>
                </a:solidFill>
              </a:rPr>
              <a:t>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188267"/>
            <a:ext cx="2362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Order item: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086" y="1901860"/>
            <a:ext cx="4199636" cy="37847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1074" y="5486400"/>
            <a:ext cx="4414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INTO </a:t>
            </a:r>
            <a:r>
              <a:rPr lang="en-US" dirty="0" err="1"/>
              <a:t>order_item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order_item_id</a:t>
            </a:r>
            <a:r>
              <a:rPr lang="en-US" dirty="0"/>
              <a:t>, quantity, 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menu_id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1, 1, 1);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64442" y="5076271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23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/>
          <p:cNvGrpSpPr/>
          <p:nvPr/>
        </p:nvGrpSpPr>
        <p:grpSpPr>
          <a:xfrm>
            <a:off x="3048000" y="460721"/>
            <a:ext cx="6915150" cy="1273409"/>
            <a:chOff x="13004829" y="1407596"/>
            <a:chExt cx="6367416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3566144" y="1578862"/>
              <a:ext cx="5806101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Order, payment &amp; order item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21632" y="1258285"/>
            <a:ext cx="3932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Transaction Tables: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8" y="1771521"/>
            <a:ext cx="51503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CREATE TABLE </a:t>
            </a:r>
            <a:r>
              <a:rPr lang="en-US" sz="2000" dirty="0" err="1">
                <a:solidFill>
                  <a:srgbClr val="002060"/>
                </a:solidFill>
              </a:rPr>
              <a:t>restaurant_orders</a:t>
            </a:r>
            <a:r>
              <a:rPr lang="en-US" sz="2000" dirty="0">
                <a:solidFill>
                  <a:srgbClr val="002060"/>
                </a:solidFill>
              </a:rPr>
              <a:t> (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order_id</a:t>
            </a:r>
            <a:r>
              <a:rPr lang="en-US" sz="2000" dirty="0">
                <a:solidFill>
                  <a:srgbClr val="002060"/>
                </a:solidFill>
              </a:rPr>
              <a:t> INTEGER PRIMARY KEY,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order_date</a:t>
            </a:r>
            <a:r>
              <a:rPr lang="en-US" sz="2000" dirty="0">
                <a:solidFill>
                  <a:srgbClr val="002060"/>
                </a:solidFill>
              </a:rPr>
              <a:t> DATE,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total_amount</a:t>
            </a:r>
            <a:r>
              <a:rPr lang="en-US" sz="2000" dirty="0">
                <a:solidFill>
                  <a:srgbClr val="002060"/>
                </a:solidFill>
              </a:rPr>
              <a:t> NUMBER(10,2),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table_no</a:t>
            </a:r>
            <a:r>
              <a:rPr lang="en-US" sz="2000" dirty="0">
                <a:solidFill>
                  <a:srgbClr val="002060"/>
                </a:solidFill>
              </a:rPr>
              <a:t> NUMBER,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</a:t>
            </a:r>
            <a:r>
              <a:rPr lang="en-US" sz="2000" dirty="0" err="1">
                <a:solidFill>
                  <a:srgbClr val="002060"/>
                </a:solidFill>
              </a:rPr>
              <a:t>customer_id</a:t>
            </a:r>
            <a:r>
              <a:rPr lang="en-US" sz="2000" dirty="0">
                <a:solidFill>
                  <a:srgbClr val="002060"/>
                </a:solidFill>
              </a:rPr>
              <a:t> NUMBER NOT NULL,</a:t>
            </a:r>
          </a:p>
          <a:p>
            <a:endParaRPr lang="en-US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    FOREIGN KEY (</a:t>
            </a:r>
            <a:r>
              <a:rPr lang="en-US" sz="2000" dirty="0" err="1">
                <a:solidFill>
                  <a:srgbClr val="002060"/>
                </a:solidFill>
              </a:rPr>
              <a:t>customer_id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REFERENCES customer(</a:t>
            </a:r>
            <a:r>
              <a:rPr lang="en-US" sz="2000" dirty="0" err="1">
                <a:solidFill>
                  <a:srgbClr val="002060"/>
                </a:solidFill>
              </a:rPr>
              <a:t>customer_id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);</a:t>
            </a:r>
            <a:endParaRPr lang="en-IN" sz="2000" dirty="0">
              <a:solidFill>
                <a:srgbClr val="00206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391" y="2033297"/>
            <a:ext cx="5331009" cy="362266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7308" y="5392845"/>
            <a:ext cx="59143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INTO </a:t>
            </a:r>
            <a:r>
              <a:rPr lang="en-US" dirty="0" err="1"/>
              <a:t>restaurant_orders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order_date</a:t>
            </a:r>
            <a:r>
              <a:rPr lang="en-US" dirty="0"/>
              <a:t>, </a:t>
            </a:r>
            <a:r>
              <a:rPr lang="en-US" dirty="0" err="1"/>
              <a:t>total_amount</a:t>
            </a:r>
            <a:r>
              <a:rPr lang="en-US" dirty="0"/>
              <a:t>, </a:t>
            </a:r>
            <a:r>
              <a:rPr lang="en-US" dirty="0" err="1"/>
              <a:t>table_no</a:t>
            </a:r>
            <a:r>
              <a:rPr lang="en-US" dirty="0"/>
              <a:t>, </a:t>
            </a:r>
            <a:r>
              <a:rPr lang="en-US" dirty="0" err="1"/>
              <a:t>customer_id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(1, DATE '2026-09-01', 350, 1, 1);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400123" y="4993191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Example: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16CE-D26A-FB93-5893-3B488BF3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C39BF9B-B66D-471B-62E7-7EBA13AFF015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3DEC91A0-FAB6-9C08-7563-8BF082FD12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1C644-6282-F31F-9ADC-622A8306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24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239D85B1-F379-8514-A400-D355D9154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91D5F28-98EF-1285-11A1-4AB6B2DD1998}"/>
              </a:ext>
            </a:extLst>
          </p:cNvPr>
          <p:cNvGrpSpPr/>
          <p:nvPr/>
        </p:nvGrpSpPr>
        <p:grpSpPr>
          <a:xfrm>
            <a:off x="3055190" y="7247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35D8BBC-9FA7-372A-30F2-EDA777B331EA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C480A441-3D94-DFA6-1D3A-0E097D03C5FB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F27C76B4-DB0A-0331-D3E5-F70A65F4E3EC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45C18A-4F8E-51EB-B7D2-0C967CF348CB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95AF3ED-C3F1-4E30-CE20-C36943446AD3}"/>
              </a:ext>
            </a:extLst>
          </p:cNvPr>
          <p:cNvSpPr txBox="1"/>
          <p:nvPr/>
        </p:nvSpPr>
        <p:spPr>
          <a:xfrm>
            <a:off x="863787" y="1496668"/>
            <a:ext cx="4873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1: Find the minimum and maximum salary of employees.</a:t>
            </a:r>
          </a:p>
          <a:p>
            <a:r>
              <a:rPr lang="en-IN" sz="2000" b="1" dirty="0"/>
              <a:t>SQL Query:</a:t>
            </a:r>
          </a:p>
          <a:p>
            <a:r>
              <a:rPr lang="en-US" dirty="0"/>
              <a:t>SELECT MIN(salary) AS </a:t>
            </a:r>
            <a:r>
              <a:rPr lang="en-US" dirty="0" err="1"/>
              <a:t>minimum_salary</a:t>
            </a:r>
            <a:r>
              <a:rPr lang="en-US" dirty="0"/>
              <a:t>,</a:t>
            </a:r>
          </a:p>
          <a:p>
            <a:r>
              <a:rPr lang="en-US" dirty="0"/>
              <a:t>       MAX(salary) AS </a:t>
            </a:r>
            <a:r>
              <a:rPr lang="en-US" dirty="0" err="1"/>
              <a:t>maximum_salary</a:t>
            </a:r>
            <a:endParaRPr lang="en-US" dirty="0"/>
          </a:p>
          <a:p>
            <a:r>
              <a:rPr lang="en-US" dirty="0"/>
              <a:t>FROM employee;</a:t>
            </a: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E56888-1203-1B8F-3054-BCCB1A5366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87" y="4252093"/>
            <a:ext cx="4076700" cy="733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3BB20FA-F552-AFD9-7DC0-B22D4939F9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475" y="4319970"/>
            <a:ext cx="2762250" cy="1381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D49782-F03E-769B-A850-D7C58D8ACE2A}"/>
              </a:ext>
            </a:extLst>
          </p:cNvPr>
          <p:cNvSpPr txBox="1"/>
          <p:nvPr/>
        </p:nvSpPr>
        <p:spPr>
          <a:xfrm>
            <a:off x="7004341" y="1415946"/>
            <a:ext cx="45373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2: Find the total salary paid for each employee role.</a:t>
            </a:r>
          </a:p>
          <a:p>
            <a:r>
              <a:rPr lang="en-IN" sz="2000" b="1" dirty="0"/>
              <a:t>SQL Query:</a:t>
            </a:r>
          </a:p>
          <a:p>
            <a:r>
              <a:rPr lang="en-US" dirty="0"/>
              <a:t>SELECT role,</a:t>
            </a:r>
          </a:p>
          <a:p>
            <a:r>
              <a:rPr lang="en-US" dirty="0"/>
              <a:t>       SUM(salary) AS </a:t>
            </a:r>
            <a:r>
              <a:rPr lang="en-US" dirty="0" err="1"/>
              <a:t>total_salary</a:t>
            </a:r>
            <a:endParaRPr lang="en-US" dirty="0"/>
          </a:p>
          <a:p>
            <a:r>
              <a:rPr lang="en-US" dirty="0"/>
              <a:t>FROM employee</a:t>
            </a:r>
          </a:p>
          <a:p>
            <a:r>
              <a:rPr lang="en-US" dirty="0"/>
              <a:t>GROUP BY role;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E88B3-5BD5-4031-BEFC-2C9FBC7281A9}"/>
              </a:ext>
            </a:extLst>
          </p:cNvPr>
          <p:cNvSpPr txBox="1"/>
          <p:nvPr/>
        </p:nvSpPr>
        <p:spPr>
          <a:xfrm>
            <a:off x="848673" y="3771111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0957D7-701F-FC1D-D80B-4841D1CD2A48}"/>
              </a:ext>
            </a:extLst>
          </p:cNvPr>
          <p:cNvSpPr txBox="1"/>
          <p:nvPr/>
        </p:nvSpPr>
        <p:spPr>
          <a:xfrm>
            <a:off x="7247070" y="3848055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6020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8ADB-B380-76DB-CE59-A5DF37DC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BA76958-E74F-181A-68EE-D0B0FA5AD621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BD646CBE-E37C-6A55-2039-28FE831CBA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71100-B13B-1629-3F28-2F8704F6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B38B7DA7-FDD1-927F-AE7D-82F6DC032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6159624-0196-4168-1682-F85AF324B5C8}"/>
              </a:ext>
            </a:extLst>
          </p:cNvPr>
          <p:cNvGrpSpPr/>
          <p:nvPr/>
        </p:nvGrpSpPr>
        <p:grpSpPr>
          <a:xfrm>
            <a:off x="3055190" y="7247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38A02D-DBB0-EDDF-60A3-B828DE65E5D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6FEE0FED-FB7E-09B0-51D4-BC1638E5100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A4999860-0E48-1162-7DF4-7AECD792C938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DAE843-D31D-72B3-426A-A92745E4382B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159229B-8B58-3C06-A107-35FA55D6180D}"/>
              </a:ext>
            </a:extLst>
          </p:cNvPr>
          <p:cNvSpPr txBox="1"/>
          <p:nvPr/>
        </p:nvSpPr>
        <p:spPr>
          <a:xfrm>
            <a:off x="2489024" y="1159526"/>
            <a:ext cx="780212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3: Display employees whose names start with the letter 'A'.</a:t>
            </a:r>
          </a:p>
          <a:p>
            <a:r>
              <a:rPr lang="en-IN" sz="2000" b="1" dirty="0"/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employee_id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emp_name</a:t>
            </a:r>
            <a:r>
              <a:rPr lang="en-US" dirty="0"/>
              <a:t>,</a:t>
            </a:r>
          </a:p>
          <a:p>
            <a:r>
              <a:rPr lang="en-US" dirty="0"/>
              <a:t>       role,</a:t>
            </a:r>
          </a:p>
          <a:p>
            <a:r>
              <a:rPr lang="en-US" dirty="0"/>
              <a:t>       salary</a:t>
            </a:r>
          </a:p>
          <a:p>
            <a:r>
              <a:rPr lang="en-US" dirty="0"/>
              <a:t>FROM employee</a:t>
            </a:r>
          </a:p>
          <a:p>
            <a:r>
              <a:rPr lang="en-US" dirty="0"/>
              <a:t>WHERE </a:t>
            </a:r>
            <a:r>
              <a:rPr lang="en-US" dirty="0" err="1"/>
              <a:t>emp_name</a:t>
            </a:r>
            <a:r>
              <a:rPr lang="en-US" dirty="0"/>
              <a:t> LIKE 'A%';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70E4340-5290-E7BF-F5B2-4BCD7BB912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1" y="4098926"/>
            <a:ext cx="4953000" cy="2257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55463F-4D3B-A7B8-F0B2-2DCD890A827D}"/>
              </a:ext>
            </a:extLst>
          </p:cNvPr>
          <p:cNvSpPr txBox="1"/>
          <p:nvPr/>
        </p:nvSpPr>
        <p:spPr>
          <a:xfrm>
            <a:off x="2833251" y="3657600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7310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26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/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752602" y="1059846"/>
            <a:ext cx="503974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Question 1: Display employee details along with their manager bonus.</a:t>
            </a:r>
          </a:p>
          <a:p>
            <a:r>
              <a:rPr lang="en-IN" b="1" dirty="0"/>
              <a:t>SQL Query:</a:t>
            </a:r>
          </a:p>
          <a:p>
            <a:r>
              <a:rPr lang="en-IN" dirty="0"/>
              <a:t>SELECT </a:t>
            </a:r>
            <a:r>
              <a:rPr lang="en-IN" dirty="0" err="1"/>
              <a:t>e.employee_id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e.emp_name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e.role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e.salary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m.bonus</a:t>
            </a:r>
            <a:endParaRPr lang="en-IN" dirty="0"/>
          </a:p>
          <a:p>
            <a:r>
              <a:rPr lang="en-IN" dirty="0"/>
              <a:t>FROM employee e</a:t>
            </a:r>
          </a:p>
          <a:p>
            <a:r>
              <a:rPr lang="en-IN" dirty="0"/>
              <a:t>JOIN manager m</a:t>
            </a:r>
          </a:p>
          <a:p>
            <a:r>
              <a:rPr lang="en-IN" dirty="0"/>
              <a:t>ON </a:t>
            </a:r>
            <a:r>
              <a:rPr lang="en-IN" dirty="0" err="1"/>
              <a:t>e.employee_id</a:t>
            </a:r>
            <a:r>
              <a:rPr lang="en-IN" dirty="0"/>
              <a:t> = </a:t>
            </a:r>
            <a:r>
              <a:rPr lang="en-IN" dirty="0" err="1"/>
              <a:t>m.employee_id</a:t>
            </a:r>
            <a:r>
              <a:rPr lang="en-IN" dirty="0"/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894" y="1070962"/>
            <a:ext cx="48111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Question 2: Display order details along with customer names.</a:t>
            </a:r>
          </a:p>
          <a:p>
            <a:r>
              <a:rPr lang="en-IN" b="1" dirty="0"/>
              <a:t>SQL Query</a:t>
            </a:r>
          </a:p>
          <a:p>
            <a:r>
              <a:rPr lang="en-IN" dirty="0"/>
              <a:t>SELECT </a:t>
            </a:r>
            <a:r>
              <a:rPr lang="en-IN" dirty="0" err="1"/>
              <a:t>o.order_id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o.order_date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o.total_amount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o.table_no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restaurant_orders</a:t>
            </a:r>
            <a:r>
              <a:rPr lang="en-IN" dirty="0"/>
              <a:t> o</a:t>
            </a:r>
          </a:p>
          <a:p>
            <a:r>
              <a:rPr lang="en-IN" dirty="0"/>
              <a:t>JOIN customer c</a:t>
            </a:r>
          </a:p>
          <a:p>
            <a:r>
              <a:rPr lang="en-IN" dirty="0"/>
              <a:t>ON </a:t>
            </a:r>
            <a:r>
              <a:rPr lang="en-IN" dirty="0" err="1"/>
              <a:t>o.customer_id</a:t>
            </a:r>
            <a:r>
              <a:rPr lang="en-IN" dirty="0"/>
              <a:t> =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rcRect t="1956" b="9641"/>
          <a:stretch>
            <a:fillRect/>
          </a:stretch>
        </p:blipFill>
        <p:spPr>
          <a:xfrm>
            <a:off x="940190" y="4242236"/>
            <a:ext cx="4162424" cy="235093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276" y="4200104"/>
            <a:ext cx="5211355" cy="246056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8B471-5DA5-A88F-0EF0-0173686B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BB4D0DD-72B4-BB57-1715-01EAA2E5F83D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47643441-567B-3D3A-1AA3-A8989D01EB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FC215-B94C-3099-663F-BD173A49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27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5398EDD9-EC40-BAE5-B39B-E79631BFA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EF11FF3-1B5A-806F-5DAA-C25A903D3DF1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7328B20-5B18-4039-8027-1073D7DFB434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04613F23-C281-6867-1ACF-0D6164E203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520E7AC1-9C8F-7529-88D4-5E46D560ADFB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0BAF92-A244-A2CA-93A8-30C3C030CD33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80F2186-5F5D-429D-4DC0-EF4089138C27}"/>
              </a:ext>
            </a:extLst>
          </p:cNvPr>
          <p:cNvSpPr txBox="1"/>
          <p:nvPr/>
        </p:nvSpPr>
        <p:spPr>
          <a:xfrm>
            <a:off x="538162" y="1694105"/>
            <a:ext cx="532923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Question 4: Display employees whose salary is greater than 50000.</a:t>
            </a:r>
          </a:p>
          <a:p>
            <a:r>
              <a:rPr lang="en-IN" sz="2200" b="1" dirty="0"/>
              <a:t>SQL Query</a:t>
            </a:r>
          </a:p>
          <a:p>
            <a:r>
              <a:rPr lang="en-US" sz="2200" dirty="0"/>
              <a:t>SELECT </a:t>
            </a:r>
            <a:r>
              <a:rPr lang="en-US" sz="2200" dirty="0" err="1"/>
              <a:t>emp_name</a:t>
            </a:r>
            <a:endParaRPr lang="en-US" sz="2200" dirty="0"/>
          </a:p>
          <a:p>
            <a:r>
              <a:rPr lang="en-US" sz="2200" dirty="0"/>
              <a:t>FROM employee</a:t>
            </a:r>
          </a:p>
          <a:p>
            <a:r>
              <a:rPr lang="en-US" sz="2200" dirty="0"/>
              <a:t>WHERE salary &gt; 50000;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AB696F-744A-170C-4819-34440FE039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32" b="8067"/>
          <a:stretch>
            <a:fillRect/>
          </a:stretch>
        </p:blipFill>
        <p:spPr>
          <a:xfrm>
            <a:off x="7496175" y="4074286"/>
            <a:ext cx="3676650" cy="24591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03F895-2F31-3B6F-5D1C-FBF249DED3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942254"/>
            <a:ext cx="2514600" cy="8560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4C931C-D828-9839-4C1E-5B8CFABB3DC8}"/>
              </a:ext>
            </a:extLst>
          </p:cNvPr>
          <p:cNvSpPr txBox="1"/>
          <p:nvPr/>
        </p:nvSpPr>
        <p:spPr>
          <a:xfrm>
            <a:off x="6781800" y="1658773"/>
            <a:ext cx="49339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Question 5: Find the total revenue generated from payments.</a:t>
            </a:r>
          </a:p>
          <a:p>
            <a:r>
              <a:rPr lang="en-IN" sz="2200" b="1" dirty="0"/>
              <a:t>SQL Query</a:t>
            </a:r>
          </a:p>
          <a:p>
            <a:r>
              <a:rPr lang="en-US" sz="2200" dirty="0"/>
              <a:t>SELECT SUM(amount) AS </a:t>
            </a:r>
            <a:r>
              <a:rPr lang="en-US" sz="2200" dirty="0" err="1"/>
              <a:t>total_revenue</a:t>
            </a:r>
            <a:endParaRPr lang="en-US" sz="2200" dirty="0"/>
          </a:p>
          <a:p>
            <a:r>
              <a:rPr lang="en-US" sz="2200" dirty="0"/>
              <a:t>FROM payment;</a:t>
            </a:r>
            <a:endParaRPr lang="en-IN" sz="2200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4E538-0733-71FD-3DB3-60F8A074036B}"/>
              </a:ext>
            </a:extLst>
          </p:cNvPr>
          <p:cNvSpPr txBox="1"/>
          <p:nvPr/>
        </p:nvSpPr>
        <p:spPr>
          <a:xfrm>
            <a:off x="731520" y="4407408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183FAF-5CFC-482D-803B-5FA9374EA3AF}"/>
              </a:ext>
            </a:extLst>
          </p:cNvPr>
          <p:cNvSpPr txBox="1"/>
          <p:nvPr/>
        </p:nvSpPr>
        <p:spPr>
          <a:xfrm>
            <a:off x="6934200" y="3574416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373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D109D-961C-28D2-6824-ABC753FB7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19517CA-F4C3-F670-AFF7-2E6E98B72707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E5CC5128-189F-6759-C812-5A53923D06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52104-A46A-479A-2F4B-F64E3141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28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FC1A1E0E-0D93-2F44-9B5F-2A28166B8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C62C64-FD5A-AC35-D198-CEAC2636487B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01C632E-B781-840F-4EE6-B23CB01F325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8BF81A6F-91FE-A475-9F01-98A1118B0A82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936F0417-6B51-10BF-75EB-34355D43A833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6495A5-1125-D2EC-83DA-F34ABA66D664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8AD022-DE98-9BDE-C31D-4EB877BD5DFC}"/>
              </a:ext>
            </a:extLst>
          </p:cNvPr>
          <p:cNvSpPr txBox="1"/>
          <p:nvPr/>
        </p:nvSpPr>
        <p:spPr>
          <a:xfrm>
            <a:off x="364331" y="1705475"/>
            <a:ext cx="536733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Question 6: Find the total number of orders.</a:t>
            </a:r>
          </a:p>
          <a:p>
            <a:r>
              <a:rPr lang="en-IN" sz="2200" b="1" dirty="0"/>
              <a:t>SQL Query</a:t>
            </a:r>
          </a:p>
          <a:p>
            <a:r>
              <a:rPr lang="en-US" sz="2200" dirty="0"/>
              <a:t>SELECT COUNT(*) AS </a:t>
            </a:r>
            <a:r>
              <a:rPr lang="en-US" sz="2200" dirty="0" err="1"/>
              <a:t>total_orders</a:t>
            </a:r>
            <a:endParaRPr lang="en-US" sz="2200" dirty="0"/>
          </a:p>
          <a:p>
            <a:r>
              <a:rPr lang="en-US" sz="2200" dirty="0"/>
              <a:t>FROM </a:t>
            </a:r>
            <a:r>
              <a:rPr lang="en-US" sz="2200" dirty="0" err="1"/>
              <a:t>restaurant_orders</a:t>
            </a:r>
            <a:r>
              <a:rPr lang="en-US" sz="2200" dirty="0"/>
              <a:t>;</a:t>
            </a:r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671951-3A7F-FB56-A86B-1B34A9B704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168628"/>
            <a:ext cx="2582195" cy="10539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82CEBD-BB40-42F6-27D6-7C6B898A1F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4633115"/>
            <a:ext cx="5753138" cy="9461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9C85FD-1060-C6A3-C64D-B8D4474896C5}"/>
              </a:ext>
            </a:extLst>
          </p:cNvPr>
          <p:cNvSpPr txBox="1"/>
          <p:nvPr/>
        </p:nvSpPr>
        <p:spPr>
          <a:xfrm>
            <a:off x="6382894" y="1668943"/>
            <a:ext cx="541020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7: Find the highest-priced menu item.</a:t>
            </a:r>
          </a:p>
          <a:p>
            <a:r>
              <a:rPr lang="en-IN" sz="2000" b="1" dirty="0"/>
              <a:t>SQL Query</a:t>
            </a:r>
          </a:p>
          <a:p>
            <a:r>
              <a:rPr lang="en-US" sz="2000" dirty="0"/>
              <a:t>SELECT * FROM menu</a:t>
            </a:r>
          </a:p>
          <a:p>
            <a:r>
              <a:rPr lang="en-US" sz="2000" dirty="0"/>
              <a:t>WHERE price = (</a:t>
            </a:r>
          </a:p>
          <a:p>
            <a:r>
              <a:rPr lang="en-US" sz="2000" dirty="0"/>
              <a:t>    SELECT MAX(price)</a:t>
            </a:r>
          </a:p>
          <a:p>
            <a:r>
              <a:rPr lang="en-US" sz="2000" dirty="0"/>
              <a:t>    FROM menu );</a:t>
            </a:r>
            <a:endParaRPr lang="en-IN" sz="2000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54AC8D-F91A-6473-750A-4C11A2FB1488}"/>
              </a:ext>
            </a:extLst>
          </p:cNvPr>
          <p:cNvSpPr txBox="1"/>
          <p:nvPr/>
        </p:nvSpPr>
        <p:spPr>
          <a:xfrm>
            <a:off x="1143000" y="3483864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04371-BA5D-A6D5-3D95-A30266FFC981}"/>
              </a:ext>
            </a:extLst>
          </p:cNvPr>
          <p:cNvSpPr txBox="1"/>
          <p:nvPr/>
        </p:nvSpPr>
        <p:spPr>
          <a:xfrm>
            <a:off x="6309360" y="3995928"/>
            <a:ext cx="10182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456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4D418-4580-78AB-8BAC-D2595F37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CAB0011-B1FF-8E6B-E9DA-009A209C5C8A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DCE79A95-93ED-FE19-F00F-F3E735B7D6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42BA6-C94A-F6D8-884B-54C54A78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29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57DD51F2-7BA2-B630-E9C4-B93000B22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2BF2298-9509-E3C5-BE56-8320A11FE18B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8BAE39B-2EE2-5538-B2F8-FBD23A640BCE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9490B5F9-D495-4145-86C2-4C360169B829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839BC88E-1EDF-BB79-D974-00B8F1BBCC97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77B76B-630B-E705-13A4-1E2470555335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546D07C-2F98-0495-968D-116DD35C197B}"/>
              </a:ext>
            </a:extLst>
          </p:cNvPr>
          <p:cNvSpPr txBox="1"/>
          <p:nvPr/>
        </p:nvSpPr>
        <p:spPr>
          <a:xfrm>
            <a:off x="528129" y="1859339"/>
            <a:ext cx="503974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1: Display employee details along with their manager bonus.</a:t>
            </a:r>
          </a:p>
          <a:p>
            <a:r>
              <a:rPr lang="en-IN" b="1" dirty="0"/>
              <a:t>SQL Query:</a:t>
            </a:r>
          </a:p>
          <a:p>
            <a:r>
              <a:rPr lang="en-IN" dirty="0"/>
              <a:t>SELECT </a:t>
            </a:r>
            <a:r>
              <a:rPr lang="en-IN" dirty="0" err="1"/>
              <a:t>e.employee_id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e.emp_name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e.role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e.salary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m.bonus</a:t>
            </a:r>
            <a:endParaRPr lang="en-IN" dirty="0"/>
          </a:p>
          <a:p>
            <a:r>
              <a:rPr lang="en-IN" dirty="0"/>
              <a:t>FROM employee e</a:t>
            </a:r>
          </a:p>
          <a:p>
            <a:r>
              <a:rPr lang="en-IN" dirty="0"/>
              <a:t>JOIN manager m</a:t>
            </a:r>
          </a:p>
          <a:p>
            <a:r>
              <a:rPr lang="en-IN" dirty="0"/>
              <a:t>ON </a:t>
            </a:r>
            <a:r>
              <a:rPr lang="en-IN" dirty="0" err="1"/>
              <a:t>e.employee_id</a:t>
            </a:r>
            <a:r>
              <a:rPr lang="en-IN" dirty="0"/>
              <a:t> = </a:t>
            </a:r>
            <a:r>
              <a:rPr lang="en-IN" dirty="0" err="1"/>
              <a:t>m.employee_id</a:t>
            </a:r>
            <a:r>
              <a:rPr lang="en-IN" dirty="0"/>
              <a:t>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E2D7C-5CD4-2FEA-72FB-ACF7440A77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56" b="9641"/>
          <a:stretch>
            <a:fillRect/>
          </a:stretch>
        </p:blipFill>
        <p:spPr>
          <a:xfrm>
            <a:off x="6313488" y="2624696"/>
            <a:ext cx="4848224" cy="29912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27682C-83D1-222B-A6FE-BAF081C288FF}"/>
              </a:ext>
            </a:extLst>
          </p:cNvPr>
          <p:cNvSpPr txBox="1"/>
          <p:nvPr/>
        </p:nvSpPr>
        <p:spPr>
          <a:xfrm>
            <a:off x="6172200" y="1991337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639931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8E2A-EA94-19C3-E44F-8BE1BAE7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CADA9081-EFA5-D7D4-8985-0378F6F88959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3C80D09C-CC83-1BED-7554-8A1FC6364B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6F847-8122-4A28-B6C5-6CEA198F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30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D3DBA67D-68CE-B96C-322F-6F9A7B26C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219B4DC-B498-D2A0-F3E4-2BB75611FE9F}"/>
              </a:ext>
            </a:extLst>
          </p:cNvPr>
          <p:cNvGrpSpPr/>
          <p:nvPr/>
        </p:nvGrpSpPr>
        <p:grpSpPr>
          <a:xfrm>
            <a:off x="2819400" y="0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0768C0A-5977-2FAA-B86F-4BC580B456E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887E08D2-9BC3-40BD-55D3-4C14A5411E3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E3A34E3D-0F72-246D-6AF0-88C09909ACF0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202603-2E3E-8580-567B-874E9A7D2786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4656077-3100-B899-FD47-86A78362BF48}"/>
              </a:ext>
            </a:extLst>
          </p:cNvPr>
          <p:cNvSpPr txBox="1"/>
          <p:nvPr/>
        </p:nvSpPr>
        <p:spPr>
          <a:xfrm>
            <a:off x="838200" y="1828800"/>
            <a:ext cx="5029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2: Display order details along with customer names.</a:t>
            </a:r>
          </a:p>
          <a:p>
            <a:r>
              <a:rPr lang="en-IN" b="1" dirty="0"/>
              <a:t>SQL Query</a:t>
            </a:r>
          </a:p>
          <a:p>
            <a:r>
              <a:rPr lang="en-IN" dirty="0"/>
              <a:t>SELECT </a:t>
            </a:r>
            <a:r>
              <a:rPr lang="en-IN" dirty="0" err="1"/>
              <a:t>o.order_id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o.order_date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o.total_amount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o.table_no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restaurant_orders</a:t>
            </a:r>
            <a:r>
              <a:rPr lang="en-IN" dirty="0"/>
              <a:t> o</a:t>
            </a:r>
          </a:p>
          <a:p>
            <a:r>
              <a:rPr lang="en-IN" dirty="0"/>
              <a:t>JOIN customer c</a:t>
            </a:r>
          </a:p>
          <a:p>
            <a:r>
              <a:rPr lang="en-IN" dirty="0"/>
              <a:t>ON </a:t>
            </a:r>
            <a:r>
              <a:rPr lang="en-IN" dirty="0" err="1"/>
              <a:t>o.customer_id</a:t>
            </a:r>
            <a:r>
              <a:rPr lang="en-IN" dirty="0"/>
              <a:t> =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59309A-EB7A-7A39-8CF2-2443E918C0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275" y="2514600"/>
            <a:ext cx="5772569" cy="3271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49AC63-966B-9396-9B75-CE65D277B763}"/>
              </a:ext>
            </a:extLst>
          </p:cNvPr>
          <p:cNvSpPr txBox="1"/>
          <p:nvPr/>
        </p:nvSpPr>
        <p:spPr>
          <a:xfrm>
            <a:off x="5891784" y="1828800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518123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0682E-A140-80E0-6B58-7157A59EF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4189E73-13BF-1188-4DAF-C2844D949CED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B09F52BF-6DBD-902D-DA40-52B579B1C3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3312C-DF1A-234E-7327-9AF4ECC3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31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D15AD827-C8AB-A554-5FD0-DC15355CC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972E754-0B1E-EC08-034E-E077B688894A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F83D30C-F6A2-8F17-6542-F2B40F32FAAA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50086CF9-CA49-6CD4-EC1D-13417973937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B3C7A802-E18D-B8CC-C002-2D9E65407D19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F9E2F14-E19B-BB7F-F864-AAA3905028D8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4B2FF1-C243-8EB1-D4DD-D9CF7B0AEA00}"/>
              </a:ext>
            </a:extLst>
          </p:cNvPr>
          <p:cNvSpPr txBox="1"/>
          <p:nvPr/>
        </p:nvSpPr>
        <p:spPr>
          <a:xfrm>
            <a:off x="362712" y="1828800"/>
            <a:ext cx="55245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3: Find customers who visited the restaurant more than once.</a:t>
            </a:r>
          </a:p>
          <a:p>
            <a:r>
              <a:rPr lang="en-IN" b="1" dirty="0"/>
              <a:t>SQL Query:</a:t>
            </a:r>
          </a:p>
          <a:p>
            <a:r>
              <a:rPr lang="en-IN" dirty="0"/>
              <a:t>SELECT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r>
              <a:rPr lang="en-IN" dirty="0"/>
              <a:t>       COUNT(</a:t>
            </a:r>
            <a:r>
              <a:rPr lang="en-IN" dirty="0" err="1"/>
              <a:t>o.order_id</a:t>
            </a:r>
            <a:r>
              <a:rPr lang="en-IN" dirty="0"/>
              <a:t>) AS </a:t>
            </a:r>
            <a:r>
              <a:rPr lang="en-IN" dirty="0" err="1"/>
              <a:t>no_of_visits</a:t>
            </a:r>
            <a:endParaRPr lang="en-IN" dirty="0"/>
          </a:p>
          <a:p>
            <a:r>
              <a:rPr lang="en-IN" dirty="0"/>
              <a:t>FROM customer c</a:t>
            </a:r>
          </a:p>
          <a:p>
            <a:r>
              <a:rPr lang="en-IN" dirty="0"/>
              <a:t>JOIN </a:t>
            </a:r>
            <a:r>
              <a:rPr lang="en-IN" dirty="0" err="1"/>
              <a:t>restaurant_orders</a:t>
            </a:r>
            <a:r>
              <a:rPr lang="en-IN" dirty="0"/>
              <a:t> o</a:t>
            </a:r>
          </a:p>
          <a:p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o.customer_id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c.customer_id</a:t>
            </a:r>
            <a:r>
              <a:rPr lang="en-IN" dirty="0"/>
              <a:t>, </a:t>
            </a:r>
            <a:r>
              <a:rPr lang="en-IN" dirty="0" err="1"/>
              <a:t>c.customer_name</a:t>
            </a:r>
            <a:endParaRPr lang="en-IN" dirty="0"/>
          </a:p>
          <a:p>
            <a:r>
              <a:rPr lang="en-IN" dirty="0"/>
              <a:t>HAVING COUNT(</a:t>
            </a:r>
            <a:r>
              <a:rPr lang="en-IN" dirty="0" err="1"/>
              <a:t>o.order_id</a:t>
            </a:r>
            <a:r>
              <a:rPr lang="en-IN" dirty="0"/>
              <a:t>) &gt; 1</a:t>
            </a:r>
          </a:p>
          <a:p>
            <a:r>
              <a:rPr lang="en-IN" dirty="0"/>
              <a:t>ORDER BY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023038-F5C8-B96E-86A3-4CA28199D0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548147"/>
            <a:ext cx="5943600" cy="17617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1AC100-F0C1-F988-9E8F-648BD4E638BB}"/>
              </a:ext>
            </a:extLst>
          </p:cNvPr>
          <p:cNvSpPr txBox="1"/>
          <p:nvPr/>
        </p:nvSpPr>
        <p:spPr>
          <a:xfrm>
            <a:off x="5795676" y="2023005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687178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E89A-D9EC-7274-30B0-68B5D32F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ED1ECB55-94CA-4360-02CF-879787BACE15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65470E75-8B1D-0F3B-04DD-613B7543DB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7B5BA-4483-7E8A-F44D-C313DA53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32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0B898332-3040-FEAD-0676-E719422F9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800A629-07C3-99A5-FC6F-C7DAA3E1EBB2}"/>
              </a:ext>
            </a:extLst>
          </p:cNvPr>
          <p:cNvGrpSpPr/>
          <p:nvPr/>
        </p:nvGrpSpPr>
        <p:grpSpPr>
          <a:xfrm>
            <a:off x="3048000" y="11663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DD12C40-4B9F-EFF5-9ED9-F8E64BCD19E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A96C4183-23AA-48EA-E913-7917925325B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5D10959E-D1E5-8CCF-3F50-B31485F96D72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A56504-CBA2-198F-3A15-CAB5240C02C3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CF3A1F9-F31A-BAF4-5DA9-A95207CDB3E8}"/>
              </a:ext>
            </a:extLst>
          </p:cNvPr>
          <p:cNvSpPr txBox="1"/>
          <p:nvPr/>
        </p:nvSpPr>
        <p:spPr>
          <a:xfrm>
            <a:off x="588264" y="1981200"/>
            <a:ext cx="5257800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4: Display payment details along with customer information.</a:t>
            </a:r>
          </a:p>
          <a:p>
            <a:r>
              <a:rPr lang="en-IN" b="1" dirty="0"/>
              <a:t>SQL Query</a:t>
            </a:r>
          </a:p>
          <a:p>
            <a:r>
              <a:rPr lang="en-IN" sz="1700" dirty="0"/>
              <a:t>SELECT </a:t>
            </a:r>
            <a:r>
              <a:rPr lang="en-IN" sz="1700" dirty="0" err="1"/>
              <a:t>p.payment_id</a:t>
            </a:r>
            <a:r>
              <a:rPr lang="en-IN" sz="1700" dirty="0"/>
              <a:t>,</a:t>
            </a:r>
          </a:p>
          <a:p>
            <a:r>
              <a:rPr lang="en-IN" sz="1700" dirty="0"/>
              <a:t>       </a:t>
            </a:r>
            <a:r>
              <a:rPr lang="en-IN" sz="1700" dirty="0" err="1"/>
              <a:t>c.customer_name</a:t>
            </a:r>
            <a:r>
              <a:rPr lang="en-IN" sz="1700" dirty="0"/>
              <a:t>,</a:t>
            </a:r>
          </a:p>
          <a:p>
            <a:r>
              <a:rPr lang="en-IN" sz="1700" dirty="0"/>
              <a:t>       </a:t>
            </a:r>
            <a:r>
              <a:rPr lang="en-IN" sz="1700" dirty="0" err="1"/>
              <a:t>p.amount</a:t>
            </a:r>
            <a:r>
              <a:rPr lang="en-IN" sz="1700" dirty="0"/>
              <a:t>,</a:t>
            </a:r>
          </a:p>
          <a:p>
            <a:r>
              <a:rPr lang="en-IN" sz="1700" dirty="0"/>
              <a:t>       </a:t>
            </a:r>
            <a:r>
              <a:rPr lang="en-IN" sz="1700" dirty="0" err="1"/>
              <a:t>p.payment_mode</a:t>
            </a:r>
            <a:r>
              <a:rPr lang="en-IN" sz="1700" dirty="0"/>
              <a:t>,</a:t>
            </a:r>
          </a:p>
          <a:p>
            <a:r>
              <a:rPr lang="en-IN" sz="1700" dirty="0"/>
              <a:t>       </a:t>
            </a:r>
            <a:r>
              <a:rPr lang="en-IN" sz="1700" dirty="0" err="1"/>
              <a:t>p.payment_date</a:t>
            </a:r>
            <a:endParaRPr lang="en-IN" sz="1700" dirty="0"/>
          </a:p>
          <a:p>
            <a:r>
              <a:rPr lang="en-IN" sz="1700" dirty="0"/>
              <a:t>FROM payment p</a:t>
            </a:r>
          </a:p>
          <a:p>
            <a:r>
              <a:rPr lang="en-IN" sz="1700" dirty="0"/>
              <a:t>JOIN </a:t>
            </a:r>
            <a:r>
              <a:rPr lang="en-IN" sz="1700" dirty="0" err="1"/>
              <a:t>restaurant_orders</a:t>
            </a:r>
            <a:r>
              <a:rPr lang="en-IN" sz="1700" dirty="0"/>
              <a:t> o</a:t>
            </a:r>
          </a:p>
          <a:p>
            <a:r>
              <a:rPr lang="en-IN" sz="1700" dirty="0"/>
              <a:t>ON </a:t>
            </a:r>
            <a:r>
              <a:rPr lang="en-IN" sz="1700" dirty="0" err="1"/>
              <a:t>p.order_id</a:t>
            </a:r>
            <a:r>
              <a:rPr lang="en-IN" sz="1700" dirty="0"/>
              <a:t> = </a:t>
            </a:r>
            <a:r>
              <a:rPr lang="en-IN" sz="1700" dirty="0" err="1"/>
              <a:t>o.order_id</a:t>
            </a:r>
            <a:endParaRPr lang="en-IN" sz="1700" dirty="0"/>
          </a:p>
          <a:p>
            <a:r>
              <a:rPr lang="en-IN" sz="1700" dirty="0"/>
              <a:t>JOIN customer c</a:t>
            </a:r>
          </a:p>
          <a:p>
            <a:r>
              <a:rPr lang="en-IN" sz="1700" dirty="0"/>
              <a:t>ON </a:t>
            </a:r>
            <a:r>
              <a:rPr lang="en-IN" sz="1700" dirty="0" err="1"/>
              <a:t>o.customer_id</a:t>
            </a:r>
            <a:r>
              <a:rPr lang="en-IN" sz="1700" dirty="0"/>
              <a:t> = </a:t>
            </a:r>
            <a:r>
              <a:rPr lang="en-IN" sz="1700" dirty="0" err="1"/>
              <a:t>c.customer_id</a:t>
            </a:r>
            <a:r>
              <a:rPr lang="en-IN" sz="1700" dirty="0"/>
              <a:t>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C0A243-7847-4840-1F75-B0F7BD151B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265" y="2461980"/>
            <a:ext cx="5998670" cy="3188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D3F810-7281-2CB1-04AE-413D5E2258BD}"/>
              </a:ext>
            </a:extLst>
          </p:cNvPr>
          <p:cNvSpPr txBox="1"/>
          <p:nvPr/>
        </p:nvSpPr>
        <p:spPr>
          <a:xfrm>
            <a:off x="5770550" y="1872983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227642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2F9C8-CF92-DD24-9F97-40B0E915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B2CB2E7-3932-0D8A-09F0-CF48D7D09AC2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8BB5F992-4661-D432-E6DA-DD1B63F703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6E778-4768-6B20-D8B6-0088473F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33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9E433F33-5CA3-E00A-7C9D-4F2AD8DA9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BBDB14A-F492-29F2-5BAE-97A5168316EF}"/>
              </a:ext>
            </a:extLst>
          </p:cNvPr>
          <p:cNvGrpSpPr/>
          <p:nvPr/>
        </p:nvGrpSpPr>
        <p:grpSpPr>
          <a:xfrm>
            <a:off x="3048000" y="13652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41CFD4B-85A4-8232-776C-EA86B17C29A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7EE7F8FE-082A-DD0E-CA44-AAF3FB02285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46532858-0D48-D19F-5684-EA7AE2EB06E9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C2ACF4-C50C-F00B-3CE6-37FBE4981B3F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F2ACD4F-2791-60FC-095E-4ADD17A2C5B5}"/>
              </a:ext>
            </a:extLst>
          </p:cNvPr>
          <p:cNvSpPr txBox="1"/>
          <p:nvPr/>
        </p:nvSpPr>
        <p:spPr>
          <a:xfrm>
            <a:off x="550297" y="2209800"/>
            <a:ext cx="5486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5: Find the total revenue generated by each payment mode.</a:t>
            </a:r>
          </a:p>
          <a:p>
            <a:r>
              <a:rPr lang="en-IN" sz="2000" b="1" dirty="0"/>
              <a:t>SQL Query:</a:t>
            </a:r>
          </a:p>
          <a:p>
            <a:r>
              <a:rPr lang="en-US" sz="2000" dirty="0"/>
              <a:t>SELECT </a:t>
            </a:r>
            <a:r>
              <a:rPr lang="en-US" sz="2000" dirty="0" err="1"/>
              <a:t>payment_mode</a:t>
            </a:r>
            <a:r>
              <a:rPr lang="en-US" sz="2000" dirty="0"/>
              <a:t>,</a:t>
            </a:r>
          </a:p>
          <a:p>
            <a:r>
              <a:rPr lang="en-US" sz="2000" dirty="0"/>
              <a:t>       SUM(amount) AS </a:t>
            </a:r>
            <a:r>
              <a:rPr lang="en-US" sz="2000" dirty="0" err="1"/>
              <a:t>total_revenue</a:t>
            </a:r>
            <a:endParaRPr lang="en-US" sz="2000" dirty="0"/>
          </a:p>
          <a:p>
            <a:r>
              <a:rPr lang="en-US" sz="2000" dirty="0"/>
              <a:t>FROM payment</a:t>
            </a:r>
          </a:p>
          <a:p>
            <a:r>
              <a:rPr lang="en-US" sz="2000" dirty="0"/>
              <a:t>GROUP BY </a:t>
            </a:r>
            <a:r>
              <a:rPr lang="en-US" sz="2000" dirty="0" err="1"/>
              <a:t>payment_mode</a:t>
            </a:r>
            <a:r>
              <a:rPr lang="en-US" sz="2000" dirty="0"/>
              <a:t>;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1268A-5CEE-C857-9070-7A23C75E2A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127630"/>
            <a:ext cx="4593746" cy="160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74A08-67A3-A8B6-C8EF-EBCB4B3E6F41}"/>
              </a:ext>
            </a:extLst>
          </p:cNvPr>
          <p:cNvSpPr txBox="1"/>
          <p:nvPr/>
        </p:nvSpPr>
        <p:spPr>
          <a:xfrm>
            <a:off x="6547104" y="2468880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584945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FE467-25F3-0D9F-D222-7EF3A74C5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B2D9933-D779-1B1B-D875-9D0AB3F35361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43C09E12-8557-8D20-9596-A7227D7C34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5C70-E63B-9CD7-1815-AFD337DD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F8BE3090-AE48-D72A-99E0-B160160B2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FD9CE4D-D8B6-B4CB-2C4D-5247ABB02F95}"/>
              </a:ext>
            </a:extLst>
          </p:cNvPr>
          <p:cNvGrpSpPr/>
          <p:nvPr/>
        </p:nvGrpSpPr>
        <p:grpSpPr>
          <a:xfrm>
            <a:off x="3048000" y="136524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857E428-EF20-CEF7-AD87-86C54ED579D4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B430CD31-4309-C881-4576-DC8CB505BFA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18F44E17-E81C-A408-2D94-1C63949E305C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3217F0-F2F1-EDBE-67AC-8295BD723EFA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5A4B5C-4772-50BE-137B-29B6483962E2}"/>
              </a:ext>
            </a:extLst>
          </p:cNvPr>
          <p:cNvSpPr txBox="1"/>
          <p:nvPr/>
        </p:nvSpPr>
        <p:spPr>
          <a:xfrm>
            <a:off x="685800" y="1859339"/>
            <a:ext cx="493394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6: Find the total quantity sold for each menu item.</a:t>
            </a:r>
          </a:p>
          <a:p>
            <a:r>
              <a:rPr lang="en-IN" b="1" dirty="0"/>
              <a:t>SQL Query:</a:t>
            </a:r>
          </a:p>
          <a:p>
            <a:r>
              <a:rPr lang="en-IN" dirty="0"/>
              <a:t>SELECT </a:t>
            </a:r>
            <a:r>
              <a:rPr lang="en-IN" dirty="0" err="1"/>
              <a:t>m.menu_id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m.item_name</a:t>
            </a:r>
            <a:r>
              <a:rPr lang="en-IN" dirty="0"/>
              <a:t>,</a:t>
            </a:r>
          </a:p>
          <a:p>
            <a:r>
              <a:rPr lang="en-IN" dirty="0"/>
              <a:t>       SUM(</a:t>
            </a:r>
            <a:r>
              <a:rPr lang="en-IN" dirty="0" err="1"/>
              <a:t>oi.quantity</a:t>
            </a:r>
            <a:r>
              <a:rPr lang="en-IN" dirty="0"/>
              <a:t>) AS </a:t>
            </a:r>
            <a:r>
              <a:rPr lang="en-IN" dirty="0" err="1"/>
              <a:t>total_quantity_sold</a:t>
            </a:r>
            <a:endParaRPr lang="en-IN" dirty="0"/>
          </a:p>
          <a:p>
            <a:r>
              <a:rPr lang="en-IN" dirty="0"/>
              <a:t>FROM menu m</a:t>
            </a:r>
          </a:p>
          <a:p>
            <a:r>
              <a:rPr lang="en-IN" dirty="0"/>
              <a:t>JOIN </a:t>
            </a:r>
            <a:r>
              <a:rPr lang="en-IN" dirty="0" err="1"/>
              <a:t>order_item</a:t>
            </a:r>
            <a:r>
              <a:rPr lang="en-IN" dirty="0"/>
              <a:t> oi</a:t>
            </a:r>
          </a:p>
          <a:p>
            <a:r>
              <a:rPr lang="en-IN" dirty="0"/>
              <a:t>ON </a:t>
            </a:r>
            <a:r>
              <a:rPr lang="en-IN" dirty="0" err="1"/>
              <a:t>m.menu_id</a:t>
            </a:r>
            <a:r>
              <a:rPr lang="en-IN" dirty="0"/>
              <a:t> = </a:t>
            </a:r>
            <a:r>
              <a:rPr lang="en-IN" dirty="0" err="1"/>
              <a:t>oi.menu_id</a:t>
            </a:r>
            <a:endParaRPr lang="en-IN" dirty="0"/>
          </a:p>
          <a:p>
            <a:r>
              <a:rPr lang="en-IN" dirty="0"/>
              <a:t>GROUP BY </a:t>
            </a:r>
            <a:r>
              <a:rPr lang="en-IN" dirty="0" err="1"/>
              <a:t>m.menu_id</a:t>
            </a:r>
            <a:r>
              <a:rPr lang="en-IN" dirty="0"/>
              <a:t>, </a:t>
            </a:r>
            <a:r>
              <a:rPr lang="en-IN" dirty="0" err="1"/>
              <a:t>m.item_name</a:t>
            </a:r>
            <a:endParaRPr lang="en-IN" dirty="0"/>
          </a:p>
          <a:p>
            <a:r>
              <a:rPr lang="en-IN" dirty="0"/>
              <a:t>ORDER BY </a:t>
            </a:r>
            <a:r>
              <a:rPr lang="en-IN" dirty="0" err="1"/>
              <a:t>total_quantity_sold</a:t>
            </a:r>
            <a:r>
              <a:rPr lang="en-IN" dirty="0"/>
              <a:t> DESC;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DF963F-0CF2-59C2-0DDF-90E75FB7BA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675" y="2365412"/>
            <a:ext cx="4798474" cy="3372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D63D01-3C74-F7E0-D5B4-78DCA25CA30E}"/>
              </a:ext>
            </a:extLst>
          </p:cNvPr>
          <p:cNvSpPr txBox="1"/>
          <p:nvPr/>
        </p:nvSpPr>
        <p:spPr>
          <a:xfrm>
            <a:off x="6172200" y="1777767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960008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AFA8-237D-A013-1ED1-6F48875A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25AC2AB-DF82-D483-F310-03974F2B8D0E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37AB7127-2314-6A61-5C11-64C4E4CE3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EB221-3646-46CD-C384-FE9CB87C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35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4F5C023F-AFD6-5D21-EFC3-4A090F75A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CEC3BF5-700A-115E-8400-25023A329C5E}"/>
              </a:ext>
            </a:extLst>
          </p:cNvPr>
          <p:cNvGrpSpPr/>
          <p:nvPr/>
        </p:nvGrpSpPr>
        <p:grpSpPr>
          <a:xfrm>
            <a:off x="3110847" y="-4255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7B74772-8C63-6E88-3BEB-E9F43BB6062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D77FA3F0-5A95-AE27-5941-B03F2E9D65A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7DFBB7EE-8120-B8D8-769D-70A2F544D952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9359AED-CB9F-3AC6-1581-97A236DBF221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8CD7B7A-8E7A-A25C-4AB5-701764C52811}"/>
              </a:ext>
            </a:extLst>
          </p:cNvPr>
          <p:cNvSpPr txBox="1"/>
          <p:nvPr/>
        </p:nvSpPr>
        <p:spPr>
          <a:xfrm>
            <a:off x="460992" y="1720840"/>
            <a:ext cx="5486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7: Display orders whose total amount is greater than the average order amount.</a:t>
            </a:r>
          </a:p>
          <a:p>
            <a:r>
              <a:rPr lang="en-IN" b="1" dirty="0"/>
              <a:t>SQL Query:</a:t>
            </a:r>
          </a:p>
          <a:p>
            <a:r>
              <a:rPr lang="en-US" dirty="0"/>
              <a:t>SELECT </a:t>
            </a:r>
            <a:r>
              <a:rPr lang="en-US" dirty="0" err="1"/>
              <a:t>order_id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order_date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total_amount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table_no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customer_id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restaurant_orders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total_amount</a:t>
            </a:r>
            <a:r>
              <a:rPr lang="en-US" dirty="0"/>
              <a:t> &gt; (</a:t>
            </a:r>
          </a:p>
          <a:p>
            <a:r>
              <a:rPr lang="en-US" dirty="0"/>
              <a:t>    SELECT AVG(</a:t>
            </a:r>
            <a:r>
              <a:rPr lang="en-US" dirty="0" err="1"/>
              <a:t>total_amount</a:t>
            </a:r>
            <a:r>
              <a:rPr lang="en-US" dirty="0"/>
              <a:t>)</a:t>
            </a:r>
          </a:p>
          <a:p>
            <a:r>
              <a:rPr lang="en-US" dirty="0"/>
              <a:t>    FROM </a:t>
            </a:r>
            <a:r>
              <a:rPr lang="en-US" dirty="0" err="1"/>
              <a:t>restaurant_orders</a:t>
            </a:r>
            <a:r>
              <a:rPr lang="en-US" dirty="0"/>
              <a:t> );</a:t>
            </a:r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DB6596-8085-B113-E0E0-B303042E43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905215"/>
            <a:ext cx="6369578" cy="22691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F14861-7507-64EF-1590-9F434589E6EE}"/>
              </a:ext>
            </a:extLst>
          </p:cNvPr>
          <p:cNvSpPr txBox="1"/>
          <p:nvPr/>
        </p:nvSpPr>
        <p:spPr>
          <a:xfrm>
            <a:off x="5833397" y="2277191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773063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0676-0648-B522-51B8-2F98FBA5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C32AEFB-127D-57C9-3098-195BCBB8720D}"/>
              </a:ext>
            </a:extLst>
          </p:cNvPr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>
            <a:extLst>
              <a:ext uri="{FF2B5EF4-FFF2-40B4-BE49-F238E27FC236}">
                <a16:creationId xmlns:a16="http://schemas.microsoft.com/office/drawing/2014/main" id="{C3A3033F-3FE4-FC19-33D4-25A4DF4652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D581E-50C4-998A-09B6-D3D164EE2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36</a:t>
            </a:fld>
            <a:endParaRPr lang="en-US" dirty="0"/>
          </a:p>
        </p:txBody>
      </p:sp>
      <p:pic>
        <p:nvPicPr>
          <p:cNvPr id="8" name="Picture 2" descr="C:\Users\My\Desktop\Capture 1.PNG">
            <a:extLst>
              <a:ext uri="{FF2B5EF4-FFF2-40B4-BE49-F238E27FC236}">
                <a16:creationId xmlns:a16="http://schemas.microsoft.com/office/drawing/2014/main" id="{1A9BE9CE-51CB-40C6-8619-55DC66AC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8B2C3F5-6D7B-ACAA-4B91-9130EA34B2FF}"/>
              </a:ext>
            </a:extLst>
          </p:cNvPr>
          <p:cNvGrpSpPr/>
          <p:nvPr/>
        </p:nvGrpSpPr>
        <p:grpSpPr>
          <a:xfrm>
            <a:off x="3110847" y="-4255"/>
            <a:ext cx="6915150" cy="1273409"/>
            <a:chOff x="13004829" y="1407596"/>
            <a:chExt cx="6367416" cy="1909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4B3F9D4-E11C-480B-2E6B-A68C02758BA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>
                <a:extLst>
                  <a:ext uri="{FF2B5EF4-FFF2-40B4-BE49-F238E27FC236}">
                    <a16:creationId xmlns:a16="http://schemas.microsoft.com/office/drawing/2014/main" id="{472EC0D8-F484-2E8B-D90B-61F24E46F04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B2FDB22B-EDB1-1A0C-BA2C-E0676C99482C}"/>
                  </a:ext>
                </a:extLst>
              </p:cNvPr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BFC1AD5-861E-FB77-6A3F-BDBD4DA7671B}"/>
                </a:ext>
              </a:extLst>
            </p:cNvPr>
            <p:cNvSpPr/>
            <p:nvPr/>
          </p:nvSpPr>
          <p:spPr>
            <a:xfrm>
              <a:off x="14829102" y="1578862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Sql</a:t>
              </a: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 queries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1294208-F7F9-3D5E-2F9D-180BD4030E35}"/>
              </a:ext>
            </a:extLst>
          </p:cNvPr>
          <p:cNvSpPr txBox="1"/>
          <p:nvPr/>
        </p:nvSpPr>
        <p:spPr>
          <a:xfrm>
            <a:off x="609600" y="1957758"/>
            <a:ext cx="5715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Question 8: Display customers who made payments using UPI.</a:t>
            </a:r>
          </a:p>
          <a:p>
            <a:r>
              <a:rPr lang="en-IN" b="1" dirty="0"/>
              <a:t>SQL Query:</a:t>
            </a:r>
          </a:p>
          <a:p>
            <a:r>
              <a:rPr lang="en-IN" dirty="0"/>
              <a:t>SELECT DISTINCT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c.customer_name</a:t>
            </a:r>
            <a:endParaRPr lang="en-IN" dirty="0"/>
          </a:p>
          <a:p>
            <a:r>
              <a:rPr lang="en-IN" dirty="0"/>
              <a:t>FROM customer c</a:t>
            </a:r>
          </a:p>
          <a:p>
            <a:r>
              <a:rPr lang="en-IN" dirty="0"/>
              <a:t>JOIN </a:t>
            </a:r>
            <a:r>
              <a:rPr lang="en-IN" dirty="0" err="1"/>
              <a:t>restaurant_orders</a:t>
            </a:r>
            <a:r>
              <a:rPr lang="en-IN" dirty="0"/>
              <a:t> o</a:t>
            </a:r>
          </a:p>
          <a:p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o.customer_id</a:t>
            </a:r>
            <a:endParaRPr lang="en-IN" dirty="0"/>
          </a:p>
          <a:p>
            <a:r>
              <a:rPr lang="en-IN" dirty="0"/>
              <a:t>JOIN payment p</a:t>
            </a:r>
          </a:p>
          <a:p>
            <a:r>
              <a:rPr lang="en-IN" dirty="0"/>
              <a:t>ON </a:t>
            </a:r>
            <a:r>
              <a:rPr lang="en-IN" dirty="0" err="1"/>
              <a:t>o.order_id</a:t>
            </a:r>
            <a:r>
              <a:rPr lang="en-IN" dirty="0"/>
              <a:t> = </a:t>
            </a:r>
            <a:r>
              <a:rPr lang="en-IN" dirty="0" err="1"/>
              <a:t>p.order_id</a:t>
            </a:r>
            <a:endParaRPr lang="en-IN" dirty="0"/>
          </a:p>
          <a:p>
            <a:r>
              <a:rPr lang="en-IN" dirty="0"/>
              <a:t>WHERE </a:t>
            </a:r>
            <a:r>
              <a:rPr lang="en-IN" dirty="0" err="1"/>
              <a:t>p.payment_mode</a:t>
            </a:r>
            <a:r>
              <a:rPr lang="en-IN" dirty="0"/>
              <a:t> = 'UPI'</a:t>
            </a:r>
          </a:p>
          <a:p>
            <a:r>
              <a:rPr lang="en-IN" dirty="0"/>
              <a:t>ORDER BY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BD6ED0-E12F-8009-BAB5-19E4BE9D89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048000"/>
            <a:ext cx="4510169" cy="19609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195562-C134-E118-1D5C-8050FB85D29F}"/>
              </a:ext>
            </a:extLst>
          </p:cNvPr>
          <p:cNvSpPr txBox="1"/>
          <p:nvPr/>
        </p:nvSpPr>
        <p:spPr>
          <a:xfrm>
            <a:off x="6839712" y="2368296"/>
            <a:ext cx="1018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329660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533400" y="1981200"/>
            <a:ext cx="5398770" cy="448691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37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/>
          <p:cNvGrpSpPr/>
          <p:nvPr/>
        </p:nvGrpSpPr>
        <p:grpSpPr>
          <a:xfrm>
            <a:off x="2825167" y="26302"/>
            <a:ext cx="7611782" cy="1273409"/>
            <a:chOff x="12924990" y="1401583"/>
            <a:chExt cx="7008869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2924990" y="1401583"/>
              <a:ext cx="6141489" cy="1909355"/>
              <a:chOff x="4660045" y="716190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660045" y="716190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668478" y="870535"/>
                <a:ext cx="326746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4128056" y="1523895"/>
              <a:ext cx="580580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Normalization-1nf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06348" y="883189"/>
            <a:ext cx="3680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Normalization of Customer Data: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228027"/>
            <a:ext cx="106096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Normalization</a:t>
            </a:r>
            <a:r>
              <a:rPr lang="en-IN" sz="2000" dirty="0"/>
              <a:t> is the process of organizing data into separate tables to reduce data redundancy and improve data consistency</a:t>
            </a:r>
            <a:r>
              <a:rPr lang="en-IN" dirty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209800"/>
            <a:ext cx="483298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/>
              <a:t>1NF – First Normal Form:</a:t>
            </a:r>
          </a:p>
          <a:p>
            <a:endParaRPr lang="en-US" alt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/>
              <a:t>In our CUSTOMER_ORDER table, all attributes contain atomic (single)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/>
              <a:t>Each customer order is represented as a separate record.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/>
              <a:t>A customer can place multiple orders, so the same </a:t>
            </a:r>
          </a:p>
          <a:p>
            <a:r>
              <a:rPr lang="en-US" altLang="en-US" sz="2000" dirty="0"/>
              <a:t>CUSTOMER_ID may appear for different ORDER_ID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/>
              <a:t>The composite key is (CUSTOMER_ID, ORDER_ID).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3630" y="1981200"/>
            <a:ext cx="5398770" cy="448691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764020" y="2066925"/>
            <a:ext cx="4374515" cy="4059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/>
              <a:t>Anomalies: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1. Update Anomaly</a:t>
            </a:r>
          </a:p>
          <a:p>
            <a:r>
              <a:rPr lang="en-US" altLang="en-US"/>
              <a:t>Customer details such as name, phone and location may need to be updated in multiple order records when the same customer places several orders.</a:t>
            </a:r>
          </a:p>
          <a:p>
            <a:r>
              <a:rPr lang="en-US" altLang="en-US" b="1"/>
              <a:t>2. Insert Anomaly</a:t>
            </a:r>
          </a:p>
          <a:p>
            <a:r>
              <a:rPr lang="en-US" altLang="en-US"/>
              <a:t>A new customer cannot be completely represented in the CUSTOMER_ORDER table without an associated order.</a:t>
            </a:r>
          </a:p>
          <a:p>
            <a:r>
              <a:rPr lang="en-US" altLang="en-US" b="1"/>
              <a:t>3. Delete Anomaly</a:t>
            </a:r>
          </a:p>
          <a:p>
            <a:r>
              <a:rPr lang="en-US" altLang="en-US"/>
              <a:t>If all orders of a customer are deleted, the customer's information may also be lost.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ular Callout 16"/>
          <p:cNvSpPr/>
          <p:nvPr/>
        </p:nvSpPr>
        <p:spPr>
          <a:xfrm>
            <a:off x="6629400" y="991870"/>
            <a:ext cx="4191000" cy="1371600"/>
          </a:xfrm>
          <a:prstGeom prst="wedgeRoundRectCallou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38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/>
          <p:cNvGrpSpPr/>
          <p:nvPr/>
        </p:nvGrpSpPr>
        <p:grpSpPr>
          <a:xfrm>
            <a:off x="3110847" y="-76010"/>
            <a:ext cx="6669788" cy="1273409"/>
            <a:chOff x="13004829" y="1407596"/>
            <a:chExt cx="6141489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832198" y="884464"/>
                <a:ext cx="309495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3578422" y="1528400"/>
              <a:ext cx="454314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IN" alt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1NF table - </a:t>
              </a:r>
              <a:r>
                <a:rPr lang="en-US" alt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CUSTOMER</a:t>
              </a:r>
              <a:r>
                <a:rPr lang="en-IN" alt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s</a:t>
              </a:r>
            </a:p>
          </p:txBody>
        </p:sp>
      </p:grpSp>
      <p:pic>
        <p:nvPicPr>
          <p:cNvPr id="6" name="Picture 5" descr="Screenshot 2026-09-29 2216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590800"/>
            <a:ext cx="9982200" cy="39700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14400" y="9906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/>
              <a:t>Title</a:t>
            </a:r>
            <a:r>
              <a:rPr lang="en-IN" altLang="en-US" b="1"/>
              <a:t>: </a:t>
            </a:r>
            <a:r>
              <a:rPr lang="en-US" altLang="en-US" b="1"/>
              <a:t>NORMALIZATION – 1NF: </a:t>
            </a:r>
            <a:r>
              <a:rPr lang="en-US" altLang="en-US"/>
              <a:t>CUSTOMER_ORDER RELATION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6692900" y="106108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Each row represents one customer order. A customer may appear in multiple rows because the same customer can place multiple orders.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8382000" y="1219200"/>
            <a:ext cx="3581400" cy="3276600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39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/>
          <p:cNvGrpSpPr/>
          <p:nvPr/>
        </p:nvGrpSpPr>
        <p:grpSpPr>
          <a:xfrm>
            <a:off x="2814989" y="-25619"/>
            <a:ext cx="6883976" cy="1273409"/>
            <a:chOff x="12924990" y="1401583"/>
            <a:chExt cx="6338711" cy="1909355"/>
          </a:xfrm>
        </p:grpSpPr>
        <p:grpSp>
          <p:nvGrpSpPr>
            <p:cNvPr id="9" name="Group 8"/>
            <p:cNvGrpSpPr/>
            <p:nvPr/>
          </p:nvGrpSpPr>
          <p:grpSpPr>
            <a:xfrm>
              <a:off x="12924990" y="1401583"/>
              <a:ext cx="6141489" cy="1909355"/>
              <a:chOff x="4660045" y="716190"/>
              <a:chExt cx="3456384" cy="1077033"/>
            </a:xfrm>
          </p:grpSpPr>
          <p:pic>
            <p:nvPicPr>
              <p:cNvPr id="11" name="object 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660045" y="716190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2" name="object 4"/>
              <p:cNvSpPr/>
              <p:nvPr/>
            </p:nvSpPr>
            <p:spPr>
              <a:xfrm>
                <a:off x="4754505" y="863765"/>
                <a:ext cx="3267463" cy="545668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3457898" y="1509065"/>
              <a:ext cx="5805803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DECOMPOSITION FROM 1NF TO 2NF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44369" y="1900227"/>
            <a:ext cx="5305799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Functional Dependencies:</a:t>
            </a:r>
            <a:endParaRPr lang="en-IN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u="sng" dirty="0"/>
              <a:t>CUSTOMER_ID → CUSTOMER_NAME, PHONE, PIN, CITY,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u="sng" dirty="0"/>
              <a:t>ORDER_ID → ORDER_DATE, TOTAL_AMOUNT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470" y="864901"/>
            <a:ext cx="10764730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Conversion from 1NF to 2NF:</a:t>
            </a:r>
          </a:p>
          <a:p>
            <a:r>
              <a:rPr lang="en-IN" sz="2000" b="1" dirty="0"/>
              <a:t>Primary Key of Customers:</a:t>
            </a:r>
            <a:r>
              <a:rPr lang="en-IN" sz="2000" dirty="0"/>
              <a:t> </a:t>
            </a:r>
            <a:r>
              <a:rPr lang="en-US" altLang="en-US" dirty="0"/>
              <a:t>(CUSTOMER_ID, ORDER_ID)</a:t>
            </a:r>
            <a:r>
              <a:rPr lang="en-IN" sz="2000" dirty="0"/>
              <a:t>.</a:t>
            </a:r>
          </a:p>
          <a:p>
            <a:endParaRPr lang="en-IN" dirty="0"/>
          </a:p>
        </p:txBody>
      </p:sp>
      <p:pic>
        <p:nvPicPr>
          <p:cNvPr id="6" name="Picture 5" descr="Screenshot 2026-09-29 2217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57600"/>
            <a:ext cx="7505065" cy="274320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8610600" y="1249680"/>
            <a:ext cx="3343910" cy="3476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1NF → 2NF</a:t>
            </a:r>
          </a:p>
          <a:p>
            <a:endParaRPr lang="en-US" altLang="en-US"/>
          </a:p>
          <a:p>
            <a:r>
              <a:rPr lang="en-US" altLang="en-US"/>
              <a:t>CUSTOMER_ORDER</a:t>
            </a:r>
          </a:p>
          <a:p>
            <a:r>
              <a:rPr lang="en-US" altLang="en-US"/>
              <a:t>↓</a:t>
            </a:r>
          </a:p>
          <a:p>
            <a:r>
              <a:rPr lang="en-US" altLang="en-US"/>
              <a:t>Remove Partial Dependencies</a:t>
            </a:r>
          </a:p>
          <a:p>
            <a:r>
              <a:rPr lang="en-US" altLang="en-US"/>
              <a:t>↓</a:t>
            </a:r>
          </a:p>
          <a:p>
            <a:r>
              <a:rPr lang="en-US" altLang="en-US"/>
              <a:t>CUSTOMER_2NF + RESTAURANT_ORDERS_2NF</a:t>
            </a:r>
          </a:p>
          <a:p>
            <a:endParaRPr lang="en-US" altLang="en-US"/>
          </a:p>
          <a:p>
            <a:r>
              <a:rPr lang="en-US" altLang="en-US"/>
              <a:t>Result: Customer data and order data are separated.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p Corners Rounded Rectangle 8"/>
          <p:cNvSpPr/>
          <p:nvPr/>
        </p:nvSpPr>
        <p:spPr>
          <a:xfrm>
            <a:off x="6934200" y="1447800"/>
            <a:ext cx="4648200" cy="5112385"/>
          </a:xfrm>
          <a:prstGeom prst="round2Same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1 October 2026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990600" y="914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u="sng"/>
              <a:t>2NF – RESTAURANT_ORDERS_2NF</a:t>
            </a:r>
          </a:p>
        </p:txBody>
      </p:sp>
      <p:sp>
        <p:nvSpPr>
          <p:cNvPr id="12" name="object 4"/>
          <p:cNvSpPr/>
          <p:nvPr/>
        </p:nvSpPr>
        <p:spPr>
          <a:xfrm>
            <a:off x="2997200" y="228600"/>
            <a:ext cx="6304915" cy="508635"/>
          </a:xfrm>
          <a:custGeom>
            <a:avLst/>
            <a:gdLst/>
            <a:ahLst/>
            <a:cxnLst/>
            <a:rect l="l" t="t" r="r" b="b"/>
            <a:pathLst>
              <a:path w="6572250" h="748030">
                <a:moveTo>
                  <a:pt x="6447626" y="0"/>
                </a:moveTo>
                <a:lnTo>
                  <a:pt x="124624" y="0"/>
                </a:lnTo>
                <a:lnTo>
                  <a:pt x="76114" y="9793"/>
                </a:lnTo>
                <a:lnTo>
                  <a:pt x="36501" y="36502"/>
                </a:lnTo>
                <a:lnTo>
                  <a:pt x="9793" y="76115"/>
                </a:lnTo>
                <a:lnTo>
                  <a:pt x="0" y="124625"/>
                </a:lnTo>
                <a:lnTo>
                  <a:pt x="0" y="623087"/>
                </a:lnTo>
                <a:lnTo>
                  <a:pt x="9793" y="671597"/>
                </a:lnTo>
                <a:lnTo>
                  <a:pt x="36501" y="711210"/>
                </a:lnTo>
                <a:lnTo>
                  <a:pt x="76114" y="737918"/>
                </a:lnTo>
                <a:lnTo>
                  <a:pt x="124624" y="747712"/>
                </a:lnTo>
                <a:lnTo>
                  <a:pt x="6447626" y="747712"/>
                </a:lnTo>
                <a:lnTo>
                  <a:pt x="6496135" y="737918"/>
                </a:lnTo>
                <a:lnTo>
                  <a:pt x="6535748" y="711210"/>
                </a:lnTo>
                <a:lnTo>
                  <a:pt x="6562456" y="671597"/>
                </a:lnTo>
                <a:lnTo>
                  <a:pt x="6572250" y="623087"/>
                </a:lnTo>
                <a:lnTo>
                  <a:pt x="6572250" y="124625"/>
                </a:lnTo>
                <a:lnTo>
                  <a:pt x="6562456" y="76115"/>
                </a:lnTo>
                <a:lnTo>
                  <a:pt x="6535748" y="36502"/>
                </a:lnTo>
                <a:lnTo>
                  <a:pt x="6496135" y="9793"/>
                </a:lnTo>
                <a:lnTo>
                  <a:pt x="6447626" y="0"/>
                </a:lnTo>
                <a:close/>
              </a:path>
            </a:pathLst>
          </a:cu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sz="1055" dirty="0"/>
          </a:p>
        </p:txBody>
      </p:sp>
      <p:sp>
        <p:nvSpPr>
          <p:cNvPr id="10" name="Rectangle 9"/>
          <p:cNvSpPr/>
          <p:nvPr/>
        </p:nvSpPr>
        <p:spPr>
          <a:xfrm>
            <a:off x="3393739" y="46064"/>
            <a:ext cx="6305226" cy="72588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u="sng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DECOMPOSITION FROM 1NF TO 2NF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949325" y="1295400"/>
            <a:ext cx="50063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The order-specific attributes are separated from customer-specific attributes. Each order is uniquely identified by ORDER_ID, while CUSTOMER_ID acts as a foreign key to identify the customer who placed the order.</a:t>
            </a:r>
          </a:p>
        </p:txBody>
      </p:sp>
      <p:pic>
        <p:nvPicPr>
          <p:cNvPr id="6" name="Picture 5" descr="Screenshot 2026-09-29 2217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743200"/>
            <a:ext cx="5006340" cy="39395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620000" y="1676400"/>
            <a:ext cx="4064000" cy="3614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        1NF</a:t>
            </a:r>
          </a:p>
          <a:p>
            <a:r>
              <a:rPr lang="en-US" altLang="en-US"/>
              <a:t>         │</a:t>
            </a:r>
          </a:p>
          <a:p>
            <a:r>
              <a:rPr lang="en-US" altLang="en-US"/>
              <a:t>         ↓</a:t>
            </a:r>
          </a:p>
          <a:p>
            <a:r>
              <a:rPr lang="en-US" altLang="en-US"/>
              <a:t> CUSTOMER_ORDER</a:t>
            </a:r>
          </a:p>
          <a:p>
            <a:r>
              <a:rPr lang="en-US" altLang="en-US"/>
              <a:t>         │</a:t>
            </a:r>
          </a:p>
          <a:p>
            <a:r>
              <a:rPr lang="en-US" altLang="en-US"/>
              <a:t>         │</a:t>
            </a:r>
          </a:p>
          <a:p>
            <a:r>
              <a:rPr lang="en-US" altLang="en-US"/>
              <a:t>         ↓</a:t>
            </a:r>
          </a:p>
          <a:p>
            <a:r>
              <a:rPr lang="en-US" altLang="en-US"/>
              <a:t> Remove Partial</a:t>
            </a:r>
          </a:p>
          <a:p>
            <a:r>
              <a:rPr lang="en-US" altLang="en-US"/>
              <a:t> Dependencies</a:t>
            </a:r>
          </a:p>
          <a:p>
            <a:r>
              <a:rPr lang="en-US" altLang="en-US"/>
              <a:t>         │</a:t>
            </a:r>
          </a:p>
          <a:p>
            <a:r>
              <a:rPr lang="en-US" altLang="en-US"/>
              <a:t>         ↓</a:t>
            </a:r>
          </a:p>
          <a:p>
            <a:r>
              <a:rPr lang="en-US" altLang="en-US"/>
              <a:t>        2NF</a:t>
            </a:r>
          </a:p>
          <a:p>
            <a:r>
              <a:rPr lang="en-US" altLang="en-US"/>
              <a:t>      ↙     ↘</a:t>
            </a:r>
          </a:p>
          <a:p>
            <a:r>
              <a:rPr lang="en-US" altLang="en-US"/>
              <a:t>     ↓       ↓</a:t>
            </a:r>
          </a:p>
          <a:p>
            <a:r>
              <a:rPr lang="en-US" altLang="en-US"/>
              <a:t>CUSTOMER_2NF  RESTAURANT_ORDERS_2NF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848600" y="1066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/>
              <a:t>Flow Chart:</a:t>
            </a:r>
          </a:p>
        </p:txBody>
      </p:sp>
      <p:pic>
        <p:nvPicPr>
          <p:cNvPr id="14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72116"/>
            <a:ext cx="1543050" cy="600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6511925" y="1143000"/>
            <a:ext cx="4715510" cy="486092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41</a:t>
            </a:fld>
            <a:endParaRPr lang="en-US" dirty="0"/>
          </a:p>
        </p:txBody>
      </p:sp>
      <p:pic>
        <p:nvPicPr>
          <p:cNvPr id="14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17" name="Group 16"/>
          <p:cNvGrpSpPr/>
          <p:nvPr/>
        </p:nvGrpSpPr>
        <p:grpSpPr>
          <a:xfrm>
            <a:off x="2985919" y="85529"/>
            <a:ext cx="5980357" cy="751940"/>
            <a:chOff x="12766406" y="2252993"/>
            <a:chExt cx="5506666" cy="1127463"/>
          </a:xfrm>
        </p:grpSpPr>
        <p:sp>
          <p:nvSpPr>
            <p:cNvPr id="22" name="object 4"/>
            <p:cNvSpPr/>
            <p:nvPr/>
          </p:nvSpPr>
          <p:spPr>
            <a:xfrm>
              <a:off x="12766406" y="2413100"/>
              <a:ext cx="5499280" cy="967356"/>
            </a:xfrm>
            <a:custGeom>
              <a:avLst/>
              <a:gdLst/>
              <a:ahLst/>
              <a:cxnLst/>
              <a:rect l="l" t="t" r="r" b="b"/>
              <a:pathLst>
                <a:path w="6572250" h="748030">
                  <a:moveTo>
                    <a:pt x="6447626" y="0"/>
                  </a:moveTo>
                  <a:lnTo>
                    <a:pt x="124624" y="0"/>
                  </a:lnTo>
                  <a:lnTo>
                    <a:pt x="76114" y="9793"/>
                  </a:lnTo>
                  <a:lnTo>
                    <a:pt x="36501" y="36502"/>
                  </a:lnTo>
                  <a:lnTo>
                    <a:pt x="9793" y="76115"/>
                  </a:lnTo>
                  <a:lnTo>
                    <a:pt x="0" y="124625"/>
                  </a:lnTo>
                  <a:lnTo>
                    <a:pt x="0" y="623087"/>
                  </a:lnTo>
                  <a:lnTo>
                    <a:pt x="9793" y="671597"/>
                  </a:lnTo>
                  <a:lnTo>
                    <a:pt x="36501" y="711210"/>
                  </a:lnTo>
                  <a:lnTo>
                    <a:pt x="76114" y="737918"/>
                  </a:lnTo>
                  <a:lnTo>
                    <a:pt x="124624" y="747712"/>
                  </a:lnTo>
                  <a:lnTo>
                    <a:pt x="6447626" y="747712"/>
                  </a:lnTo>
                  <a:lnTo>
                    <a:pt x="6496135" y="737918"/>
                  </a:lnTo>
                  <a:lnTo>
                    <a:pt x="6535748" y="711210"/>
                  </a:lnTo>
                  <a:lnTo>
                    <a:pt x="6562456" y="671597"/>
                  </a:lnTo>
                  <a:lnTo>
                    <a:pt x="6572250" y="623087"/>
                  </a:lnTo>
                  <a:lnTo>
                    <a:pt x="6572250" y="124625"/>
                  </a:lnTo>
                  <a:lnTo>
                    <a:pt x="6562456" y="76115"/>
                  </a:lnTo>
                  <a:lnTo>
                    <a:pt x="6535748" y="36502"/>
                  </a:lnTo>
                  <a:lnTo>
                    <a:pt x="6496135" y="9793"/>
                  </a:lnTo>
                  <a:lnTo>
                    <a:pt x="6447626" y="0"/>
                  </a:lnTo>
                  <a:close/>
                </a:path>
              </a:pathLst>
            </a:custGeom>
            <a:solidFill>
              <a:srgbClr val="FF660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055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2958121" y="2252993"/>
              <a:ext cx="5314951" cy="10883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DECOMPOSITION FROM 2NF TO 3NF</a:t>
              </a:r>
            </a:p>
            <a:p>
              <a:pPr>
                <a:lnSpc>
                  <a:spcPct val="150000"/>
                </a:lnSpc>
              </a:pPr>
              <a:endParaRPr lang="en-US" sz="2800" b="1" u="sng" kern="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914400" y="11430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/>
              <a:t>NORMALIZATION – 2NF TO 3NF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914400" y="1676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/>
              <a:t>Transitive Dependency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066800" y="213360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CUSTOMER_ID → PIN</a:t>
            </a:r>
          </a:p>
          <a:p>
            <a:r>
              <a:rPr lang="en-US" altLang="en-US"/>
              <a:t>PIN → CITY, STATE</a:t>
            </a:r>
          </a:p>
          <a:p>
            <a:r>
              <a:rPr lang="en-US" altLang="en-US"/>
              <a:t>Therefore:CUSTOMER_ID → PIN → CITY, STATE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239000" y="1371600"/>
            <a:ext cx="291401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        2NF</a:t>
            </a:r>
          </a:p>
          <a:p>
            <a:r>
              <a:rPr lang="en-US" altLang="en-US"/>
              <a:t>         │</a:t>
            </a:r>
          </a:p>
          <a:p>
            <a:r>
              <a:rPr lang="en-US" altLang="en-US"/>
              <a:t>         ↓</a:t>
            </a:r>
          </a:p>
          <a:p>
            <a:r>
              <a:rPr lang="en-US" altLang="en-US"/>
              <a:t>   CUSTOMER_2NF</a:t>
            </a:r>
          </a:p>
          <a:p>
            <a:r>
              <a:rPr lang="en-US" altLang="en-US"/>
              <a:t>         │</a:t>
            </a:r>
          </a:p>
          <a:p>
            <a:r>
              <a:rPr lang="en-US" altLang="en-US"/>
              <a:t>         │ Remove Transitive</a:t>
            </a:r>
          </a:p>
          <a:p>
            <a:r>
              <a:rPr lang="en-US" altLang="en-US"/>
              <a:t>         │ Dependency</a:t>
            </a:r>
          </a:p>
          <a:p>
            <a:r>
              <a:rPr lang="en-US" altLang="en-US"/>
              <a:t>         ↓</a:t>
            </a:r>
          </a:p>
          <a:p>
            <a:r>
              <a:rPr lang="en-US" altLang="en-US"/>
              <a:t>        3NF</a:t>
            </a:r>
          </a:p>
          <a:p>
            <a:r>
              <a:rPr lang="en-US" altLang="en-US"/>
              <a:t>      ↙     ↘</a:t>
            </a:r>
          </a:p>
          <a:p>
            <a:r>
              <a:rPr lang="en-US" altLang="en-US"/>
              <a:t>     ↓       ↓</a:t>
            </a:r>
          </a:p>
          <a:p>
            <a:r>
              <a:rPr lang="en-US" altLang="en-US"/>
              <a:t> CUSTOMER   CUSTOMER_</a:t>
            </a:r>
          </a:p>
          <a:p>
            <a:r>
              <a:rPr lang="en-US" altLang="en-US"/>
              <a:t>            LOCATION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685800" y="3332480"/>
            <a:ext cx="406400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/>
              <a:t>Functional Dependencies</a:t>
            </a:r>
          </a:p>
          <a:p>
            <a:endParaRPr lang="en-US" altLang="en-US"/>
          </a:p>
          <a:p>
            <a:r>
              <a:rPr lang="en-US" altLang="en-US" b="1"/>
              <a:t>For CUSTOMER_2NF:</a:t>
            </a:r>
          </a:p>
          <a:p>
            <a:endParaRPr lang="en-US" altLang="en-US"/>
          </a:p>
          <a:p>
            <a:r>
              <a:rPr lang="en-US" altLang="en-US"/>
              <a:t>CUSTOMER_ID → CUSTOMER_NAME, PHONE, PIN, CITY, STATE</a:t>
            </a:r>
          </a:p>
          <a:p>
            <a:endParaRPr lang="en-US" altLang="en-US"/>
          </a:p>
          <a:p>
            <a:r>
              <a:rPr lang="en-US" altLang="en-US" b="1"/>
              <a:t>For RESTAURANT_ORDERS_2NF:</a:t>
            </a:r>
          </a:p>
          <a:p>
            <a:endParaRPr lang="en-US" altLang="en-US"/>
          </a:p>
          <a:p>
            <a:r>
              <a:rPr lang="en-US" altLang="en-US"/>
              <a:t>ORDER_ID → CUSTOMER_ID, ORDER_DATE, TOTAL_AMOUNT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42</a:t>
            </a:fld>
            <a:endParaRPr lang="en-US" dirty="0"/>
          </a:p>
        </p:txBody>
      </p:sp>
      <p:pic>
        <p:nvPicPr>
          <p:cNvPr id="14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64826"/>
            <a:ext cx="1543050" cy="600075"/>
          </a:xfrm>
          <a:prstGeom prst="rect">
            <a:avLst/>
          </a:prstGeom>
          <a:noFill/>
        </p:spPr>
      </p:pic>
      <p:grpSp>
        <p:nvGrpSpPr>
          <p:cNvPr id="17" name="Group 16"/>
          <p:cNvGrpSpPr/>
          <p:nvPr/>
        </p:nvGrpSpPr>
        <p:grpSpPr>
          <a:xfrm>
            <a:off x="3115114" y="114028"/>
            <a:ext cx="6948947" cy="760209"/>
            <a:chOff x="13552543" y="1738489"/>
            <a:chExt cx="6398536" cy="1139860"/>
          </a:xfrm>
        </p:grpSpPr>
        <p:sp>
          <p:nvSpPr>
            <p:cNvPr id="22" name="object 4"/>
            <p:cNvSpPr/>
            <p:nvPr/>
          </p:nvSpPr>
          <p:spPr>
            <a:xfrm>
              <a:off x="13552543" y="1910994"/>
              <a:ext cx="5499278" cy="967355"/>
            </a:xfrm>
            <a:custGeom>
              <a:avLst/>
              <a:gdLst/>
              <a:ahLst/>
              <a:cxnLst/>
              <a:rect l="l" t="t" r="r" b="b"/>
              <a:pathLst>
                <a:path w="6572250" h="748030">
                  <a:moveTo>
                    <a:pt x="6447626" y="0"/>
                  </a:moveTo>
                  <a:lnTo>
                    <a:pt x="124624" y="0"/>
                  </a:lnTo>
                  <a:lnTo>
                    <a:pt x="76114" y="9793"/>
                  </a:lnTo>
                  <a:lnTo>
                    <a:pt x="36501" y="36502"/>
                  </a:lnTo>
                  <a:lnTo>
                    <a:pt x="9793" y="76115"/>
                  </a:lnTo>
                  <a:lnTo>
                    <a:pt x="0" y="124625"/>
                  </a:lnTo>
                  <a:lnTo>
                    <a:pt x="0" y="623087"/>
                  </a:lnTo>
                  <a:lnTo>
                    <a:pt x="9793" y="671597"/>
                  </a:lnTo>
                  <a:lnTo>
                    <a:pt x="36501" y="711210"/>
                  </a:lnTo>
                  <a:lnTo>
                    <a:pt x="76114" y="737918"/>
                  </a:lnTo>
                  <a:lnTo>
                    <a:pt x="124624" y="747712"/>
                  </a:lnTo>
                  <a:lnTo>
                    <a:pt x="6447626" y="747712"/>
                  </a:lnTo>
                  <a:lnTo>
                    <a:pt x="6496135" y="737918"/>
                  </a:lnTo>
                  <a:lnTo>
                    <a:pt x="6535748" y="711210"/>
                  </a:lnTo>
                  <a:lnTo>
                    <a:pt x="6562456" y="671597"/>
                  </a:lnTo>
                  <a:lnTo>
                    <a:pt x="6572250" y="623087"/>
                  </a:lnTo>
                  <a:lnTo>
                    <a:pt x="6572250" y="124625"/>
                  </a:lnTo>
                  <a:lnTo>
                    <a:pt x="6562456" y="76115"/>
                  </a:lnTo>
                  <a:lnTo>
                    <a:pt x="6535748" y="36502"/>
                  </a:lnTo>
                  <a:lnTo>
                    <a:pt x="6496135" y="9793"/>
                  </a:lnTo>
                  <a:lnTo>
                    <a:pt x="6447626" y="0"/>
                  </a:lnTo>
                  <a:close/>
                </a:path>
              </a:pathLst>
            </a:custGeom>
            <a:solidFill>
              <a:srgbClr val="FF660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055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4636128" y="1738489"/>
              <a:ext cx="5314951" cy="108839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u="sng" kern="0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+mj-ea"/>
                  <a:cs typeface="+mj-cs"/>
                  <a:sym typeface="+mn-ea"/>
                </a:rPr>
                <a:t>3nf decomposition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787159" y="627759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PK:</a:t>
            </a:r>
            <a:r>
              <a:rPr lang="en-IN" dirty="0"/>
              <a:t> PIN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4981" y="5975625"/>
            <a:ext cx="1935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PK:</a:t>
            </a:r>
            <a:r>
              <a:rPr lang="en-IN" dirty="0"/>
              <a:t> CUSTOMER_ID</a:t>
            </a:r>
            <a:br>
              <a:rPr lang="en-IN" dirty="0"/>
            </a:br>
            <a:r>
              <a:rPr lang="en-IN" b="1" dirty="0"/>
              <a:t>FK:</a:t>
            </a:r>
            <a:r>
              <a:rPr lang="en-IN" dirty="0"/>
              <a:t> PIN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621" y="883573"/>
            <a:ext cx="1464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CUSTOMER:</a:t>
            </a:r>
            <a:endParaRPr lang="en-IN" sz="2000" b="1" u="sng" dirty="0"/>
          </a:p>
        </p:txBody>
      </p:sp>
      <p:sp>
        <p:nvSpPr>
          <p:cNvPr id="15" name="TextBox 14"/>
          <p:cNvSpPr txBox="1"/>
          <p:nvPr/>
        </p:nvSpPr>
        <p:spPr>
          <a:xfrm>
            <a:off x="6465691" y="896002"/>
            <a:ext cx="1341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LOCATION:</a:t>
            </a:r>
            <a:endParaRPr lang="en-IN" sz="2000" b="1" u="sng" dirty="0"/>
          </a:p>
        </p:txBody>
      </p:sp>
      <p:pic>
        <p:nvPicPr>
          <p:cNvPr id="3" name="Picture 2" descr="Screenshot 2026-09-29 2218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57325"/>
            <a:ext cx="6480810" cy="3934460"/>
          </a:xfrm>
          <a:prstGeom prst="rect">
            <a:avLst/>
          </a:prstGeom>
        </p:spPr>
      </p:pic>
      <p:pic>
        <p:nvPicPr>
          <p:cNvPr id="6" name="Picture 5" descr="Screenshot 2026-09-29 2218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0" y="1371600"/>
            <a:ext cx="3790315" cy="406019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76600" y="-1447800"/>
            <a:ext cx="5566410" cy="2511814"/>
            <a:chOff x="11409737" y="1546183"/>
            <a:chExt cx="9303118" cy="3394876"/>
          </a:xfrm>
        </p:grpSpPr>
        <p:sp>
          <p:nvSpPr>
            <p:cNvPr id="11" name="object 4"/>
            <p:cNvSpPr/>
            <p:nvPr/>
          </p:nvSpPr>
          <p:spPr>
            <a:xfrm>
              <a:off x="11409737" y="4185805"/>
              <a:ext cx="9303118" cy="755254"/>
            </a:xfrm>
            <a:custGeom>
              <a:avLst/>
              <a:gdLst/>
              <a:ahLst/>
              <a:cxnLst/>
              <a:rect l="l" t="t" r="r" b="b"/>
              <a:pathLst>
                <a:path w="6572250" h="748030">
                  <a:moveTo>
                    <a:pt x="6447626" y="0"/>
                  </a:moveTo>
                  <a:lnTo>
                    <a:pt x="124624" y="0"/>
                  </a:lnTo>
                  <a:lnTo>
                    <a:pt x="76114" y="9793"/>
                  </a:lnTo>
                  <a:lnTo>
                    <a:pt x="36501" y="36502"/>
                  </a:lnTo>
                  <a:lnTo>
                    <a:pt x="9793" y="76115"/>
                  </a:lnTo>
                  <a:lnTo>
                    <a:pt x="0" y="124625"/>
                  </a:lnTo>
                  <a:lnTo>
                    <a:pt x="0" y="623087"/>
                  </a:lnTo>
                  <a:lnTo>
                    <a:pt x="9793" y="671597"/>
                  </a:lnTo>
                  <a:lnTo>
                    <a:pt x="36501" y="711210"/>
                  </a:lnTo>
                  <a:lnTo>
                    <a:pt x="76114" y="737918"/>
                  </a:lnTo>
                  <a:lnTo>
                    <a:pt x="124624" y="747712"/>
                  </a:lnTo>
                  <a:lnTo>
                    <a:pt x="6447626" y="747712"/>
                  </a:lnTo>
                  <a:lnTo>
                    <a:pt x="6496135" y="737918"/>
                  </a:lnTo>
                  <a:lnTo>
                    <a:pt x="6535748" y="711210"/>
                  </a:lnTo>
                  <a:lnTo>
                    <a:pt x="6562456" y="671597"/>
                  </a:lnTo>
                  <a:lnTo>
                    <a:pt x="6572250" y="623087"/>
                  </a:lnTo>
                  <a:lnTo>
                    <a:pt x="6572250" y="124625"/>
                  </a:lnTo>
                  <a:lnTo>
                    <a:pt x="6562456" y="76115"/>
                  </a:lnTo>
                  <a:lnTo>
                    <a:pt x="6535748" y="36502"/>
                  </a:lnTo>
                  <a:lnTo>
                    <a:pt x="6496135" y="9793"/>
                  </a:lnTo>
                  <a:lnTo>
                    <a:pt x="6447626" y="0"/>
                  </a:lnTo>
                  <a:close/>
                </a:path>
              </a:pathLst>
            </a:custGeom>
            <a:solidFill>
              <a:srgbClr val="FF660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pPr algn="ctr"/>
              <a:r>
                <a:rPr lang="en-IN" sz="3200" dirty="0"/>
                <a:t>Final 3NF + Normalization Flow</a:t>
              </a:r>
              <a:endParaRPr lang="en-IN" sz="3200" u="sng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737133" y="1546183"/>
              <a:ext cx="5635331" cy="871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5" y="1985834"/>
            <a:ext cx="3968496" cy="36529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68435" y="1367601"/>
            <a:ext cx="3112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Normalization Process: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443335"/>
            <a:ext cx="2704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Final 3NF Structure: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67200" y="1829435"/>
            <a:ext cx="3039110" cy="4235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 dirty="0"/>
              <a:t>Result: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Partial dependencies are removed by separating customer and order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Transitive dependency is removed by separating location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Customer, location, and order data are stored in separate related tables.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Data redundancy and modification anomalies are reduced.</a:t>
            </a:r>
          </a:p>
        </p:txBody>
      </p:sp>
      <p:pic>
        <p:nvPicPr>
          <p:cNvPr id="8" name="Picture 7" descr="ChatGPT Image Sep 30, 2026, 12_10_47 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1829435"/>
            <a:ext cx="4450080" cy="43484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602990" y="81223"/>
            <a:ext cx="5566410" cy="1412701"/>
            <a:chOff x="11894738" y="1407596"/>
            <a:chExt cx="9303118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1894738" y="1407596"/>
              <a:ext cx="9303118" cy="1909355"/>
              <a:chOff x="4080227" y="719582"/>
              <a:chExt cx="5235725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080227" y="884183"/>
                <a:ext cx="5235725" cy="426025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algn="ctr"/>
                <a:r>
                  <a:rPr lang="en-IN" sz="3200" u="sng" dirty="0">
                    <a:sym typeface="+mn-ea"/>
                  </a:rPr>
                  <a:t>Advantages &amp; Future Scope</a:t>
                </a:r>
                <a:endParaRPr lang="en-IN" sz="3200" u="sng" dirty="0"/>
              </a:p>
              <a:p>
                <a:pPr algn="ctr"/>
                <a:endParaRPr lang="en-IN" sz="3200" u="sng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3737133" y="1546183"/>
              <a:ext cx="5635331" cy="871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57200" y="1326515"/>
            <a:ext cx="11506200" cy="5210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</a:pPr>
            <a:r>
              <a:rPr lang="en-IN" sz="2400" b="1" u="sng" dirty="0">
                <a:sym typeface="+mn-ea"/>
              </a:rPr>
              <a:t>ADVANTAGES</a:t>
            </a:r>
            <a:r>
              <a:rPr lang="en-IN" sz="2400" b="1" dirty="0">
                <a:sym typeface="+mn-ea"/>
              </a:rPr>
              <a:t>:</a:t>
            </a:r>
            <a:endParaRPr lang="en-IN" sz="2400" b="1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Faster billing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Secure data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Less paperwork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Better customer service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Easy record management</a:t>
            </a:r>
          </a:p>
          <a:p>
            <a:pPr lv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u="sng" dirty="0">
                <a:sym typeface="+mn-ea"/>
              </a:rPr>
              <a:t>Future Scope</a:t>
            </a:r>
            <a:r>
              <a:rPr lang="en-IN" sz="2400" b="1" dirty="0">
                <a:sym typeface="+mn-ea"/>
              </a:rPr>
              <a:t>:</a:t>
            </a:r>
            <a:endParaRPr lang="en-IN" sz="2400" b="1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Online food ordering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QR Code Menu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Mobile App </a:t>
            </a:r>
            <a:endParaRPr lang="en-IN" sz="2400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+mn-ea"/>
              </a:rPr>
              <a:t>Inventory Management</a:t>
            </a:r>
            <a:endParaRPr lang="en-IN" sz="2400" dirty="0"/>
          </a:p>
          <a:p>
            <a:pPr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en-US" altLang="en-US" sz="2400" dirty="0">
              <a:latin typeface="Maiandra GD" panose="020E0502030308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316" y="1447801"/>
            <a:ext cx="3263502" cy="43513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081462" y="274310"/>
            <a:ext cx="4495800" cy="1026528"/>
            <a:chOff x="13004829" y="1407596"/>
            <a:chExt cx="6141489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3162790" y="1469212"/>
              <a:ext cx="5635331" cy="1012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IN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CONCLUSION</a:t>
              </a:r>
              <a:endParaRPr 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134100" y="5122748"/>
            <a:ext cx="5891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Book Antiqua" panose="0204060205030503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7748" y="1101113"/>
            <a:ext cx="5807710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en-IN" sz="2000" dirty="0">
              <a:sym typeface="+mn-ea"/>
            </a:endParaRPr>
          </a:p>
          <a:p>
            <a:pPr algn="just">
              <a:lnSpc>
                <a:spcPct val="200000"/>
              </a:lnSpc>
            </a:pPr>
            <a:r>
              <a:rPr lang="en-IN" sz="2000" dirty="0">
                <a:sym typeface="+mn-ea"/>
              </a:rPr>
              <a:t>The </a:t>
            </a:r>
            <a:r>
              <a:rPr lang="en-IN" sz="2000" b="1" dirty="0">
                <a:sym typeface="+mn-ea"/>
              </a:rPr>
              <a:t>Restaurant Management System</a:t>
            </a:r>
            <a:r>
              <a:rPr lang="en-IN" sz="2000" dirty="0">
                <a:sym typeface="+mn-ea"/>
              </a:rPr>
              <a:t> helps restaurants manage customers, menu items, orders, employees, billing, and payments efficiently.</a:t>
            </a:r>
            <a:endParaRPr lang="en-IN" sz="2000" dirty="0"/>
          </a:p>
          <a:p>
            <a:pPr algn="just">
              <a:lnSpc>
                <a:spcPct val="200000"/>
              </a:lnSpc>
            </a:pPr>
            <a:r>
              <a:rPr lang="en-IN" sz="2000" dirty="0">
                <a:sym typeface="+mn-ea"/>
              </a:rPr>
              <a:t>It reduces manual work, minimizes errors, saves time, and improves overall restaurant management.</a:t>
            </a:r>
            <a:endParaRPr lang="en-IN" sz="2000" dirty="0"/>
          </a:p>
          <a:p>
            <a:pPr algn="just">
              <a:lnSpc>
                <a:spcPct val="200000"/>
              </a:lnSpc>
            </a:pPr>
            <a:endParaRPr lang="en-IN" sz="2000" dirty="0"/>
          </a:p>
          <a:p>
            <a:pPr algn="just">
              <a:lnSpc>
                <a:spcPct val="200000"/>
              </a:lnSpc>
            </a:pPr>
            <a:endParaRPr lang="en-US" sz="2000" dirty="0">
              <a:latin typeface="Maiandra GD" panose="020E0502030308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0" r="19856" b="2"/>
          <a:stretch>
            <a:fillRect/>
          </a:stretch>
        </p:blipFill>
        <p:spPr>
          <a:xfrm>
            <a:off x="6781800" y="1371600"/>
            <a:ext cx="5013960" cy="42106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1B67-00FB-4D50-A453-CADB0B247171}" type="slidenum">
              <a:rPr lang="en-IN" smtClean="0"/>
              <a:t>46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2153165" y="3983002"/>
            <a:ext cx="7885669" cy="1207167"/>
          </a:xfrm>
          <a:prstGeom prst="rect">
            <a:avLst/>
          </a:prstGeom>
        </p:spPr>
        <p:txBody>
          <a:bodyPr vert="horz" lIns="36349" tIns="18175" rIns="36349" bIns="18175" rtlCol="0" anchor="ctr">
            <a:normAutofit/>
          </a:bodyPr>
          <a:lstStyle/>
          <a:p>
            <a:pPr algn="ctr" defTabSz="369570">
              <a:spcBef>
                <a:spcPct val="0"/>
              </a:spcBef>
              <a:spcAft>
                <a:spcPts val="240"/>
              </a:spcAft>
            </a:pPr>
            <a:r>
              <a:rPr lang="en-US" sz="3770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latin typeface="Berlin Sans FB" panose="020E0602020502020306" pitchFamily="34" charset="0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Picture 6" descr="Kulanz kann dauerhaft zur Zahlung verpflichten » AGENTI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78"/>
          <a:stretch>
            <a:fillRect/>
          </a:stretch>
        </p:blipFill>
        <p:spPr bwMode="auto">
          <a:xfrm>
            <a:off x="3794489" y="1667831"/>
            <a:ext cx="4603021" cy="23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16*260"/>
  <p:tag name="TABLE_ENDDRAG_RECT" val="51*144*516*26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3597</Words>
  <Application>Microsoft Office PowerPoint</Application>
  <PresentationFormat>Widescreen</PresentationFormat>
  <Paragraphs>708</Paragraphs>
  <Slides>46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Berlin Sans FB</vt:lpstr>
      <vt:lpstr>Book Antiqua</vt:lpstr>
      <vt:lpstr>Calibri</vt:lpstr>
      <vt:lpstr>Centaur</vt:lpstr>
      <vt:lpstr>Maiandra GD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</dc:creator>
  <cp:lastModifiedBy>Akshaya Kinthada</cp:lastModifiedBy>
  <cp:revision>26</cp:revision>
  <dcterms:created xsi:type="dcterms:W3CDTF">2006-08-16T00:00:00Z</dcterms:created>
  <dcterms:modified xsi:type="dcterms:W3CDTF">2026-10-01T05:23:49Z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A31641A8201C4432BF2B251E3726C478_13</vt:lpwstr>
  </property>
  <property fmtid="{D5CDD505-2E9C-101B-9397-08002B2CF9AE}" pid="3" name="KSOProductBuildVer">
    <vt:lpwstr>1033-12.1.0.28485</vt:lpwstr>
  </property>
</Properties>
</file>